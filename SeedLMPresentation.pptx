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</p:sldIdLst>
  <p:sldSz cy="6858000" cx="12192000"/>
  <p:notesSz cx="6858000" cy="12192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11" Type="http://schemas.openxmlformats.org/officeDocument/2006/relationships/slide" Target="slides/slide7.xml"/><Relationship Id="rId22" Type="http://schemas.openxmlformats.org/officeDocument/2006/relationships/slide" Target="slides/slide18.xml"/><Relationship Id="rId10" Type="http://schemas.openxmlformats.org/officeDocument/2006/relationships/slide" Target="slides/slide6.xml"/><Relationship Id="rId21" Type="http://schemas.openxmlformats.org/officeDocument/2006/relationships/slide" Target="slides/slide17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5" Type="http://schemas.openxmlformats.org/officeDocument/2006/relationships/slide" Target="slides/slide1.xml"/><Relationship Id="rId19" Type="http://schemas.openxmlformats.org/officeDocument/2006/relationships/slide" Target="slides/slide15.xml"/><Relationship Id="rId6" Type="http://schemas.openxmlformats.org/officeDocument/2006/relationships/slide" Target="slides/slide2.xml"/><Relationship Id="rId18" Type="http://schemas.openxmlformats.org/officeDocument/2006/relationships/slide" Target="slides/slide14.xml"/><Relationship Id="rId7" Type="http://schemas.openxmlformats.org/officeDocument/2006/relationships/slide" Target="slides/slide3.xml"/><Relationship Id="rId8" Type="http://schemas.openxmlformats.org/officeDocument/2006/relationships/slide" Target="slides/slide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" name="Google Shape;13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Поменяйте [ФИО]. Фон — воссозданная графика по мотивам ITMO Beamer; не оригинальный рисунок.</a:t>
            </a:r>
            <a:endParaRPr/>
          </a:p>
        </p:txBody>
      </p:sp>
      <p:sp>
        <p:nvSpPr>
          <p:cNvPr id="14" name="Google Shape;14;p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6" name="Google Shape;26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" name="Google Shape;27;p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2" name="Google Shape;62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" name="Google Shape;63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8" name="Google Shape;88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9" name="Google Shape;89;p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5" name="Google Shape;115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6" name="Google Shape;116;p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9" name="Google Shape;139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0" name="Google Shape;140;p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61" name="Google Shape;161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2" name="Google Shape;162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78" name="Google Shape;17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9" name="Google Shape;179;p8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9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01" name="Google Shape;20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1" name="Shape 2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Google Shape;242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43" name="Google Shape;243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4" name="Google Shape;244;p1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2" name="Shape 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Google Shape;263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64" name="Google Shape;2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1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9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Google Shape;290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91" name="Google Shape;29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2" name="Google Shape;292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39" name="Google Shape;33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0" name="Google Shape;340;p1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0" name="Shape 3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1" name="Google Shape;371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72" name="Google Shape;372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3" name="Google Shape;373;p1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4" name="Shape 3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5" name="Google Shape;385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86" name="Google Shape;386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7" name="Google Shape;387;p1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5" name="Shape 4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6" name="Google Shape;4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07" name="Google Shape;407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8" name="Google Shape;408;p1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6" name="Shape 4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7" name="Google Shape;43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38" name="Google Shape;438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9" name="Google Shape;439;p1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59" name="Shape 4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" name="Google Shape;460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61" name="Google Shape;46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2" name="Google Shape;462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5.jpg"/><Relationship Id="rId4" Type="http://schemas.openxmlformats.org/officeDocument/2006/relationships/hyperlink" Target="https://arxiv.org/pdf/2410.10714" TargetMode="External"/><Relationship Id="rId5" Type="http://schemas.openxmlformats.org/officeDocument/2006/relationships/hyperlink" Target="https://arxiv.org/pdf/2410.10714" TargetMode="External"/><Relationship Id="rId6" Type="http://schemas.openxmlformats.org/officeDocument/2006/relationships/hyperlink" Target="https://ru.overleaf.com/latex/templates/itmo-beamer-theme/fpttrgnmqwsb" TargetMode="Externa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3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6.pn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jp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/mnt/data/itmo_work/itmo_neon_inspired.jpg" id="16" name="Google Shape;16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1696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7" name="Google Shape;17;p3"/>
          <p:cNvSpPr/>
          <p:nvPr/>
        </p:nvSpPr>
        <p:spPr>
          <a:xfrm>
            <a:off x="5312664" y="722376"/>
            <a:ext cx="1574597" cy="59527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780"/>
              <a:buFont typeface="Arial"/>
              <a:buNone/>
            </a:pPr>
            <a:r>
              <a:rPr b="1" i="0" lang="en-US" spc="-200" sz="378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ITMO</a:t>
            </a:r>
            <a:endParaRPr b="0" i="0" sz="378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" name="Google Shape;18;p3"/>
          <p:cNvSpPr/>
          <p:nvPr/>
        </p:nvSpPr>
        <p:spPr>
          <a:xfrm>
            <a:off x="5341468" y="1279246"/>
            <a:ext cx="1651406" cy="24003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34"/>
              <a:buFont typeface="Arial"/>
              <a:buNone/>
            </a:pPr>
            <a:r>
              <a:rPr b="1" i="0" lang="en-US" spc="240" sz="1134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UNIVERSITY</a:t>
            </a:r>
            <a:endParaRPr b="0" i="0" sz="1134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" name="Google Shape;19;p3"/>
          <p:cNvSpPr/>
          <p:nvPr/>
        </p:nvSpPr>
        <p:spPr>
          <a:xfrm>
            <a:off x="919900" y="2779006"/>
            <a:ext cx="10360200" cy="713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600"/>
              <a:buFont typeface="Arial"/>
              <a:buNone/>
            </a:pPr>
            <a:r>
              <a:rPr b="1" i="0" lang="en-US" sz="46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SeedLM</a:t>
            </a:r>
            <a:endParaRPr b="0" i="0" sz="4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" name="Google Shape;20;p3"/>
          <p:cNvSpPr/>
          <p:nvPr/>
        </p:nvSpPr>
        <p:spPr>
          <a:xfrm>
            <a:off x="1622605" y="3633959"/>
            <a:ext cx="9089100" cy="786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Arial"/>
              <a:buNone/>
            </a:pPr>
            <a:r>
              <a:rPr b="0" i="0" lang="en-US" sz="2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Compressing LLM Weights into Seeds</a:t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Arial"/>
              <a:buNone/>
            </a:pPr>
            <a:r>
              <a:rPr b="0" i="0" lang="en-US" sz="2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of Pseudo-Random Generators</a:t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" name="Google Shape;21;p3"/>
          <p:cNvSpPr/>
          <p:nvPr/>
        </p:nvSpPr>
        <p:spPr>
          <a:xfrm>
            <a:off x="7227994" y="6454673"/>
            <a:ext cx="4531800" cy="24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EADFF8"/>
              </a:buClr>
              <a:buSzPts val="1900"/>
              <a:buFont typeface="Arial"/>
              <a:buNone/>
            </a:pPr>
            <a:r>
              <a:rPr lang="en-US" sz="800">
                <a:solidFill>
                  <a:srgbClr val="EADFF8"/>
                </a:solidFill>
              </a:rPr>
              <a:t>Прямая ссылка на</a:t>
            </a:r>
            <a:r>
              <a:rPr b="0" i="0" lang="en-US" sz="800" u="none" cap="none" strike="noStrike">
                <a:solidFill>
                  <a:srgbClr val="EADFF8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b="0" i="0" lang="en-US" sz="800" u="sng" cap="none" strike="noStrike">
                <a:solidFill>
                  <a:schemeClr val="hlink"/>
                </a:solidFill>
                <a:latin typeface="Arial"/>
                <a:ea typeface="Arial"/>
                <a:cs typeface="Arial"/>
                <a:sym typeface="Arial"/>
                <a:hlinkClick r:id="rId4"/>
              </a:rPr>
              <a:t>стать</a:t>
            </a:r>
            <a:r>
              <a:rPr lang="en-US" sz="800" u="sng">
                <a:solidFill>
                  <a:schemeClr val="hlink"/>
                </a:solidFill>
                <a:hlinkClick r:id="rId5"/>
              </a:rPr>
              <a:t>ю</a:t>
            </a:r>
            <a:r>
              <a:rPr lang="en-US" sz="800">
                <a:solidFill>
                  <a:srgbClr val="EADFF8"/>
                </a:solidFill>
              </a:rPr>
              <a:t> </a:t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" name="Google Shape;22;p3"/>
          <p:cNvSpPr/>
          <p:nvPr/>
        </p:nvSpPr>
        <p:spPr>
          <a:xfrm>
            <a:off x="1901475" y="4994320"/>
            <a:ext cx="8531400" cy="246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EDE2F9"/>
              </a:buClr>
              <a:buSzPts val="1370"/>
              <a:buFont typeface="Arial"/>
              <a:buNone/>
            </a:pPr>
            <a:r>
              <a:rPr lang="en-US" sz="1370">
                <a:solidFill>
                  <a:srgbClr val="EDE2F9"/>
                </a:solidFill>
              </a:rPr>
              <a:t>Мясников Никита Артемович</a:t>
            </a:r>
            <a:r>
              <a:rPr b="0" i="0" lang="en-US" sz="1370" u="none" cap="none" strike="noStrike">
                <a:solidFill>
                  <a:srgbClr val="EDE2F9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br>
              <a:rPr lang="en-US" sz="1370">
                <a:solidFill>
                  <a:srgbClr val="EDE2F9"/>
                </a:solidFill>
              </a:rPr>
            </a:br>
            <a:r>
              <a:rPr b="0" i="0" lang="en-US" sz="1370" u="none" cap="none" strike="noStrike">
                <a:solidFill>
                  <a:srgbClr val="EDE2F9"/>
                </a:solidFill>
                <a:latin typeface="Arial"/>
                <a:ea typeface="Arial"/>
                <a:cs typeface="Arial"/>
                <a:sym typeface="Arial"/>
              </a:rPr>
              <a:t> Санкт-Петербург, 2026</a:t>
            </a:r>
            <a:endParaRPr b="0" i="0" sz="137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" name="Google Shape;23;p3"/>
          <p:cNvSpPr/>
          <p:nvPr/>
        </p:nvSpPr>
        <p:spPr>
          <a:xfrm>
            <a:off x="2424750" y="6391825"/>
            <a:ext cx="39171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EFE4FA"/>
              </a:buClr>
              <a:buSzPts val="2000"/>
              <a:buFont typeface="Arial"/>
              <a:buNone/>
            </a:pPr>
            <a:r>
              <a:rPr lang="en-US" sz="800">
                <a:solidFill>
                  <a:srgbClr val="EFE4FA"/>
                </a:solidFill>
              </a:rPr>
              <a:t>За основу презентации был взят </a:t>
            </a:r>
            <a:r>
              <a:rPr lang="en-US" sz="800" u="sng">
                <a:solidFill>
                  <a:schemeClr val="hlink"/>
                </a:solidFill>
                <a:hlinkClick r:id="rId6"/>
              </a:rPr>
              <a:t>этот</a:t>
            </a:r>
            <a:r>
              <a:rPr lang="en-US" sz="800">
                <a:solidFill>
                  <a:srgbClr val="EFE4FA"/>
                </a:solidFill>
              </a:rPr>
              <a:t> шаблон</a:t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4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7E10FF"/>
          </a:solidFill>
          <a:ln cap="flat" cmpd="sng" w="9525">
            <a:solidFill>
              <a:srgbClr val="7E1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" name="Google Shape;30;p4"/>
          <p:cNvSpPr/>
          <p:nvPr/>
        </p:nvSpPr>
        <p:spPr>
          <a:xfrm>
            <a:off x="502920" y="128016"/>
            <a:ext cx="10698480" cy="4297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50"/>
              <a:buFont typeface="Arial"/>
              <a:buNone/>
            </a:pPr>
            <a:r>
              <a:rPr b="1" i="0" lang="en-US" sz="22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План презентации: по структуре статьи</a:t>
            </a:r>
            <a:endParaRPr b="0" i="0" sz="22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" name="Google Shape;31;p4"/>
          <p:cNvSpPr/>
          <p:nvPr/>
        </p:nvSpPr>
        <p:spPr>
          <a:xfrm>
            <a:off x="10698480" y="256032"/>
            <a:ext cx="978408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EBDAFF"/>
              </a:buClr>
              <a:buSzPts val="1080"/>
              <a:buFont typeface="Arial"/>
              <a:buNone/>
            </a:pPr>
            <a:r>
              <a:rPr b="1" i="0" lang="en-US" sz="1080" u="none" cap="none" strike="noStrike">
                <a:solidFill>
                  <a:srgbClr val="EBDAFF"/>
                </a:solidFill>
                <a:latin typeface="Arial"/>
                <a:ea typeface="Arial"/>
                <a:cs typeface="Arial"/>
                <a:sym typeface="Arial"/>
              </a:rPr>
              <a:t>СТРУКТУРА</a:t>
            </a:r>
            <a:endParaRPr b="0" i="0" sz="108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32" name="Google Shape;32;p4"/>
          <p:cNvCxnSpPr/>
          <p:nvPr/>
        </p:nvCxnSpPr>
        <p:spPr>
          <a:xfrm>
            <a:off x="502920" y="6510528"/>
            <a:ext cx="11183112" cy="0"/>
          </a:xfrm>
          <a:prstGeom prst="straightConnector1">
            <a:avLst/>
          </a:prstGeom>
          <a:noFill/>
          <a:ln cap="flat" cmpd="sng" w="10150">
            <a:solidFill>
              <a:srgbClr val="DAD6E2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3" name="Google Shape;33;p4"/>
          <p:cNvSpPr/>
          <p:nvPr/>
        </p:nvSpPr>
        <p:spPr>
          <a:xfrm>
            <a:off x="502920" y="6574536"/>
            <a:ext cx="9966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66273"/>
              </a:buClr>
              <a:buSzPts val="1020"/>
              <a:buFont typeface="Arial"/>
              <a:buNone/>
            </a:pPr>
            <a:r>
              <a:rPr b="0" i="0" lang="en-US" sz="1020" u="none" cap="none" strike="noStrike">
                <a:solidFill>
                  <a:srgbClr val="666273"/>
                </a:solidFill>
                <a:latin typeface="Arial"/>
                <a:ea typeface="Arial"/>
                <a:cs typeface="Arial"/>
                <a:sym typeface="Arial"/>
              </a:rPr>
              <a:t>Источник: статья, с. 1</a:t>
            </a:r>
            <a:r>
              <a:rPr lang="en-US" sz="1020">
                <a:solidFill>
                  <a:srgbClr val="666273"/>
                </a:solidFill>
              </a:rPr>
              <a:t>-</a:t>
            </a:r>
            <a:r>
              <a:rPr b="0" i="0" lang="en-US" sz="1020" u="none" cap="none" strike="noStrike">
                <a:solidFill>
                  <a:srgbClr val="666273"/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  <a:endParaRPr b="0" i="0" sz="102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" name="Google Shape;34;p4"/>
          <p:cNvSpPr/>
          <p:nvPr/>
        </p:nvSpPr>
        <p:spPr>
          <a:xfrm>
            <a:off x="11109960" y="6565392"/>
            <a:ext cx="566928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7E10FF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7E10FF"/>
                </a:solidFill>
                <a:latin typeface="Arial"/>
                <a:ea typeface="Arial"/>
                <a:cs typeface="Arial"/>
                <a:sym typeface="Arial"/>
              </a:rPr>
              <a:t>2/19</a:t>
            </a:r>
            <a:endParaRPr b="0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" name="Google Shape;35;p4"/>
          <p:cNvSpPr/>
          <p:nvPr/>
        </p:nvSpPr>
        <p:spPr>
          <a:xfrm>
            <a:off x="731520" y="1042416"/>
            <a:ext cx="10716768" cy="768096"/>
          </a:xfrm>
          <a:prstGeom prst="rect">
            <a:avLst/>
          </a:prstGeom>
          <a:solidFill>
            <a:srgbClr val="F8F6FC"/>
          </a:solidFill>
          <a:ln cap="flat" cmpd="sng" w="9525">
            <a:solidFill>
              <a:srgbClr val="F8F6F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" name="Google Shape;36;p4"/>
          <p:cNvSpPr/>
          <p:nvPr/>
        </p:nvSpPr>
        <p:spPr>
          <a:xfrm>
            <a:off x="941832" y="1225296"/>
            <a:ext cx="50292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E10FF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7E10FF"/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  <a:endParaRPr b="0" i="0" sz="2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4"/>
          <p:cNvSpPr/>
          <p:nvPr/>
        </p:nvSpPr>
        <p:spPr>
          <a:xfrm>
            <a:off x="1554480" y="1197864"/>
            <a:ext cx="2011680" cy="2468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131A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14131A"/>
                </a:solidFill>
                <a:latin typeface="Arial"/>
                <a:ea typeface="Arial"/>
                <a:cs typeface="Arial"/>
                <a:sym typeface="Arial"/>
              </a:rPr>
              <a:t>Introduction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" name="Google Shape;38;p4"/>
          <p:cNvSpPr/>
          <p:nvPr/>
        </p:nvSpPr>
        <p:spPr>
          <a:xfrm>
            <a:off x="3657600" y="1197864"/>
            <a:ext cx="6583680" cy="4297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C3945"/>
              </a:buClr>
              <a:buSzPts val="1610"/>
              <a:buFont typeface="Arial"/>
              <a:buNone/>
            </a:pPr>
            <a:r>
              <a:rPr b="0" i="0" lang="en-US" sz="1610" u="none" cap="none" strike="noStrike">
                <a:solidFill>
                  <a:srgbClr val="3C3945"/>
                </a:solidFill>
                <a:latin typeface="Arial"/>
                <a:ea typeface="Arial"/>
                <a:cs typeface="Arial"/>
                <a:sym typeface="Arial"/>
              </a:rPr>
              <a:t>Зачем сжимать веса LLM</a:t>
            </a:r>
            <a:endParaRPr b="0" i="0" sz="161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" name="Google Shape;39;p4"/>
          <p:cNvSpPr/>
          <p:nvPr/>
        </p:nvSpPr>
        <p:spPr>
          <a:xfrm>
            <a:off x="10561320" y="1252728"/>
            <a:ext cx="6400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66273"/>
              </a:buClr>
              <a:buSzPts val="1260"/>
              <a:buFont typeface="Arial"/>
              <a:buNone/>
            </a:pPr>
            <a:r>
              <a:rPr b="0" i="0" lang="en-US" sz="1260" u="none" cap="none" strike="noStrike">
                <a:solidFill>
                  <a:srgbClr val="666273"/>
                </a:solidFill>
                <a:latin typeface="Arial"/>
                <a:ea typeface="Arial"/>
                <a:cs typeface="Arial"/>
                <a:sym typeface="Arial"/>
              </a:rPr>
              <a:t>с. 1</a:t>
            </a:r>
            <a:r>
              <a:rPr lang="en-US" sz="1260">
                <a:solidFill>
                  <a:srgbClr val="666273"/>
                </a:solidFill>
              </a:rPr>
              <a:t>-</a:t>
            </a:r>
            <a:r>
              <a:rPr b="0" i="0" lang="en-US" sz="1260" u="none" cap="none" strike="noStrike">
                <a:solidFill>
                  <a:srgbClr val="666273"/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  <a:endParaRPr b="0" i="0" sz="126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" name="Google Shape;40;p4"/>
          <p:cNvSpPr/>
          <p:nvPr/>
        </p:nvSpPr>
        <p:spPr>
          <a:xfrm>
            <a:off x="731520" y="1984248"/>
            <a:ext cx="10716768" cy="768096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" name="Google Shape;41;p4"/>
          <p:cNvSpPr/>
          <p:nvPr/>
        </p:nvSpPr>
        <p:spPr>
          <a:xfrm>
            <a:off x="941832" y="2167128"/>
            <a:ext cx="50292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E10FF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7E10FF"/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  <a:endParaRPr b="0" i="0" sz="2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" name="Google Shape;42;p4"/>
          <p:cNvSpPr/>
          <p:nvPr/>
        </p:nvSpPr>
        <p:spPr>
          <a:xfrm>
            <a:off x="1554480" y="2139696"/>
            <a:ext cx="2011680" cy="2468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131A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14131A"/>
                </a:solidFill>
                <a:latin typeface="Arial"/>
                <a:ea typeface="Arial"/>
                <a:cs typeface="Arial"/>
                <a:sym typeface="Arial"/>
              </a:rPr>
              <a:t>Related Work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" name="Google Shape;43;p4"/>
          <p:cNvSpPr/>
          <p:nvPr/>
        </p:nvSpPr>
        <p:spPr>
          <a:xfrm>
            <a:off x="3657600" y="2139696"/>
            <a:ext cx="6583680" cy="4297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C3945"/>
              </a:buClr>
              <a:buSzPts val="1610"/>
              <a:buFont typeface="Arial"/>
              <a:buNone/>
            </a:pPr>
            <a:r>
              <a:rPr b="0" i="0" lang="en-US" sz="1610" u="none" cap="none" strike="noStrike">
                <a:solidFill>
                  <a:srgbClr val="3C3945"/>
                </a:solidFill>
                <a:latin typeface="Arial"/>
                <a:ea typeface="Arial"/>
                <a:cs typeface="Arial"/>
                <a:sym typeface="Arial"/>
              </a:rPr>
              <a:t>Чем SeedLM отличается от AWQ, QuIP#, OmniQuant</a:t>
            </a:r>
            <a:endParaRPr b="0" i="0" sz="161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" name="Google Shape;44;p4"/>
          <p:cNvSpPr/>
          <p:nvPr/>
        </p:nvSpPr>
        <p:spPr>
          <a:xfrm>
            <a:off x="10561320" y="2194560"/>
            <a:ext cx="6400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66273"/>
              </a:buClr>
              <a:buSzPts val="1260"/>
              <a:buFont typeface="Arial"/>
              <a:buNone/>
            </a:pPr>
            <a:r>
              <a:rPr b="0" i="0" lang="en-US" sz="1260" u="none" cap="none" strike="noStrike">
                <a:solidFill>
                  <a:srgbClr val="666273"/>
                </a:solidFill>
                <a:latin typeface="Arial"/>
                <a:ea typeface="Arial"/>
                <a:cs typeface="Arial"/>
                <a:sym typeface="Arial"/>
              </a:rPr>
              <a:t>с. 2</a:t>
            </a:r>
            <a:r>
              <a:rPr lang="en-US" sz="1260">
                <a:solidFill>
                  <a:srgbClr val="666273"/>
                </a:solidFill>
              </a:rPr>
              <a:t>-</a:t>
            </a:r>
            <a:r>
              <a:rPr b="0" i="0" lang="en-US" sz="1260" u="none" cap="none" strike="noStrike">
                <a:solidFill>
                  <a:srgbClr val="666273"/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  <a:endParaRPr b="0" i="0" sz="126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" name="Google Shape;45;p4"/>
          <p:cNvSpPr/>
          <p:nvPr/>
        </p:nvSpPr>
        <p:spPr>
          <a:xfrm>
            <a:off x="731520" y="2926080"/>
            <a:ext cx="10716768" cy="768096"/>
          </a:xfrm>
          <a:prstGeom prst="rect">
            <a:avLst/>
          </a:prstGeom>
          <a:solidFill>
            <a:srgbClr val="F8F6FC"/>
          </a:solidFill>
          <a:ln cap="flat" cmpd="sng" w="9525">
            <a:solidFill>
              <a:srgbClr val="F8F6F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" name="Google Shape;46;p4"/>
          <p:cNvSpPr/>
          <p:nvPr/>
        </p:nvSpPr>
        <p:spPr>
          <a:xfrm>
            <a:off x="941832" y="3108960"/>
            <a:ext cx="50292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E10FF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7E10FF"/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  <a:endParaRPr b="0" i="0" sz="2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" name="Google Shape;47;p4"/>
          <p:cNvSpPr/>
          <p:nvPr/>
        </p:nvSpPr>
        <p:spPr>
          <a:xfrm>
            <a:off x="1554480" y="3081528"/>
            <a:ext cx="2011680" cy="2468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131A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14131A"/>
                </a:solidFill>
                <a:latin typeface="Arial"/>
                <a:ea typeface="Arial"/>
                <a:cs typeface="Arial"/>
                <a:sym typeface="Arial"/>
              </a:rPr>
              <a:t>Methodology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" name="Google Shape;48;p4"/>
          <p:cNvSpPr/>
          <p:nvPr/>
        </p:nvSpPr>
        <p:spPr>
          <a:xfrm>
            <a:off x="3657600" y="3081528"/>
            <a:ext cx="6583680" cy="4297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C3945"/>
              </a:buClr>
              <a:buSzPts val="1610"/>
              <a:buFont typeface="Arial"/>
              <a:buNone/>
            </a:pPr>
            <a:r>
              <a:rPr b="0" i="0" lang="en-US" sz="1610" u="none" cap="none" strike="noStrike">
                <a:solidFill>
                  <a:srgbClr val="3C3945"/>
                </a:solidFill>
                <a:latin typeface="Arial"/>
                <a:ea typeface="Arial"/>
                <a:cs typeface="Arial"/>
                <a:sym typeface="Arial"/>
              </a:rPr>
              <a:t>LFSR, матрица U(s), поиск seed, битовый бюджет</a:t>
            </a:r>
            <a:endParaRPr b="0" i="0" sz="161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" name="Google Shape;49;p4"/>
          <p:cNvSpPr/>
          <p:nvPr/>
        </p:nvSpPr>
        <p:spPr>
          <a:xfrm>
            <a:off x="10561320" y="3136392"/>
            <a:ext cx="6400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66273"/>
              </a:buClr>
              <a:buSzPts val="1260"/>
              <a:buFont typeface="Arial"/>
              <a:buNone/>
            </a:pPr>
            <a:r>
              <a:rPr b="0" i="0" lang="en-US" sz="1260" u="none" cap="none" strike="noStrike">
                <a:solidFill>
                  <a:srgbClr val="666273"/>
                </a:solidFill>
                <a:latin typeface="Arial"/>
                <a:ea typeface="Arial"/>
                <a:cs typeface="Arial"/>
                <a:sym typeface="Arial"/>
              </a:rPr>
              <a:t>с. 3</a:t>
            </a:r>
            <a:r>
              <a:rPr lang="en-US" sz="1260">
                <a:solidFill>
                  <a:srgbClr val="666273"/>
                </a:solidFill>
              </a:rPr>
              <a:t>-</a:t>
            </a:r>
            <a:r>
              <a:rPr b="0" i="0" lang="en-US" sz="1260" u="none" cap="none" strike="noStrike">
                <a:solidFill>
                  <a:srgbClr val="666273"/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  <a:endParaRPr b="0" i="0" sz="126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" name="Google Shape;50;p4"/>
          <p:cNvSpPr/>
          <p:nvPr/>
        </p:nvSpPr>
        <p:spPr>
          <a:xfrm>
            <a:off x="731520" y="3867912"/>
            <a:ext cx="10716768" cy="768096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1" name="Google Shape;51;p4"/>
          <p:cNvSpPr/>
          <p:nvPr/>
        </p:nvSpPr>
        <p:spPr>
          <a:xfrm>
            <a:off x="941832" y="4050792"/>
            <a:ext cx="50292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E10FF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7E10FF"/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  <a:endParaRPr b="0" i="0" sz="2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" name="Google Shape;52;p4"/>
          <p:cNvSpPr/>
          <p:nvPr/>
        </p:nvSpPr>
        <p:spPr>
          <a:xfrm>
            <a:off x="1554480" y="4023360"/>
            <a:ext cx="2011680" cy="2468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131A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14131A"/>
                </a:solidFill>
                <a:latin typeface="Arial"/>
                <a:ea typeface="Arial"/>
                <a:cs typeface="Arial"/>
                <a:sym typeface="Arial"/>
              </a:rPr>
              <a:t>Experiments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" name="Google Shape;53;p4"/>
          <p:cNvSpPr/>
          <p:nvPr/>
        </p:nvSpPr>
        <p:spPr>
          <a:xfrm>
            <a:off x="3657600" y="4023360"/>
            <a:ext cx="6583680" cy="4297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C3945"/>
              </a:buClr>
              <a:buSzPts val="1610"/>
              <a:buFont typeface="Arial"/>
              <a:buNone/>
            </a:pPr>
            <a:r>
              <a:rPr b="0" i="0" lang="en-US" sz="1610" u="none" cap="none" strike="noStrike">
                <a:solidFill>
                  <a:srgbClr val="3C3945"/>
                </a:solidFill>
                <a:latin typeface="Arial"/>
                <a:ea typeface="Arial"/>
                <a:cs typeface="Arial"/>
                <a:sym typeface="Arial"/>
              </a:rPr>
              <a:t>Перплексия, zero-shot accuracy и FPGA</a:t>
            </a:r>
            <a:endParaRPr b="0" i="0" sz="161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" name="Google Shape;54;p4"/>
          <p:cNvSpPr/>
          <p:nvPr/>
        </p:nvSpPr>
        <p:spPr>
          <a:xfrm>
            <a:off x="10561320" y="4078224"/>
            <a:ext cx="6400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66273"/>
              </a:buClr>
              <a:buSzPts val="1260"/>
              <a:buFont typeface="Arial"/>
              <a:buNone/>
            </a:pPr>
            <a:r>
              <a:rPr b="0" i="0" lang="en-US" sz="1260" u="none" cap="none" strike="noStrike">
                <a:solidFill>
                  <a:srgbClr val="666273"/>
                </a:solidFill>
                <a:latin typeface="Arial"/>
                <a:ea typeface="Arial"/>
                <a:cs typeface="Arial"/>
                <a:sym typeface="Arial"/>
              </a:rPr>
              <a:t>с. 7</a:t>
            </a:r>
            <a:r>
              <a:rPr lang="en-US" sz="1260">
                <a:solidFill>
                  <a:srgbClr val="666273"/>
                </a:solidFill>
              </a:rPr>
              <a:t>-</a:t>
            </a:r>
            <a:r>
              <a:rPr b="0" i="0" lang="en-US" sz="1260" u="none" cap="none" strike="noStrike">
                <a:solidFill>
                  <a:srgbClr val="666273"/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  <a:endParaRPr b="0" i="0" sz="126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" name="Google Shape;55;p4"/>
          <p:cNvSpPr/>
          <p:nvPr/>
        </p:nvSpPr>
        <p:spPr>
          <a:xfrm>
            <a:off x="731520" y="4809744"/>
            <a:ext cx="10716768" cy="768096"/>
          </a:xfrm>
          <a:prstGeom prst="rect">
            <a:avLst/>
          </a:prstGeom>
          <a:solidFill>
            <a:srgbClr val="F8F6FC"/>
          </a:solidFill>
          <a:ln cap="flat" cmpd="sng" w="9525">
            <a:solidFill>
              <a:srgbClr val="F8F6F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6" name="Google Shape;56;p4"/>
          <p:cNvSpPr/>
          <p:nvPr/>
        </p:nvSpPr>
        <p:spPr>
          <a:xfrm>
            <a:off x="941832" y="4992624"/>
            <a:ext cx="50292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E10FF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7E10FF"/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  <a:endParaRPr b="0" i="0" sz="2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" name="Google Shape;57;p4"/>
          <p:cNvSpPr/>
          <p:nvPr/>
        </p:nvSpPr>
        <p:spPr>
          <a:xfrm>
            <a:off x="1554480" y="4965192"/>
            <a:ext cx="2011680" cy="2468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131A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14131A"/>
                </a:solidFill>
                <a:latin typeface="Arial"/>
                <a:ea typeface="Arial"/>
                <a:cs typeface="Arial"/>
                <a:sym typeface="Arial"/>
              </a:rPr>
              <a:t>Concluding Remarks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" name="Google Shape;58;p4"/>
          <p:cNvSpPr/>
          <p:nvPr/>
        </p:nvSpPr>
        <p:spPr>
          <a:xfrm>
            <a:off x="3657600" y="4965192"/>
            <a:ext cx="6583680" cy="4297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C3945"/>
              </a:buClr>
              <a:buSzPts val="1610"/>
              <a:buFont typeface="Arial"/>
              <a:buNone/>
            </a:pPr>
            <a:r>
              <a:rPr b="0" i="0" lang="en-US" sz="1610" u="none" cap="none" strike="noStrike">
                <a:solidFill>
                  <a:srgbClr val="3C3945"/>
                </a:solidFill>
                <a:latin typeface="Arial"/>
                <a:ea typeface="Arial"/>
                <a:cs typeface="Arial"/>
                <a:sym typeface="Arial"/>
              </a:rPr>
              <a:t>Выводы, ограничения и план репликации</a:t>
            </a:r>
            <a:endParaRPr b="0" i="0" sz="161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" name="Google Shape;59;p4"/>
          <p:cNvSpPr/>
          <p:nvPr/>
        </p:nvSpPr>
        <p:spPr>
          <a:xfrm>
            <a:off x="10561320" y="5020056"/>
            <a:ext cx="6400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66273"/>
              </a:buClr>
              <a:buSzPts val="1260"/>
              <a:buFont typeface="Arial"/>
              <a:buNone/>
            </a:pPr>
            <a:r>
              <a:rPr b="0" i="0" lang="en-US" sz="1260" u="none" cap="none" strike="noStrike">
                <a:solidFill>
                  <a:srgbClr val="666273"/>
                </a:solidFill>
                <a:latin typeface="Arial"/>
                <a:ea typeface="Arial"/>
                <a:cs typeface="Arial"/>
                <a:sym typeface="Arial"/>
              </a:rPr>
              <a:t>с. 10</a:t>
            </a:r>
            <a:endParaRPr b="0" i="0" sz="126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64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5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7E10FF"/>
          </a:solidFill>
          <a:ln cap="flat" cmpd="sng" w="9525">
            <a:solidFill>
              <a:srgbClr val="7E1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6" name="Google Shape;66;p5"/>
          <p:cNvSpPr/>
          <p:nvPr/>
        </p:nvSpPr>
        <p:spPr>
          <a:xfrm>
            <a:off x="502920" y="128016"/>
            <a:ext cx="10698480" cy="4297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50"/>
              <a:buFont typeface="Arial"/>
              <a:buNone/>
            </a:pPr>
            <a:r>
              <a:rPr b="1" i="0" lang="en-US" sz="22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1. Introduction </a:t>
            </a:r>
            <a:r>
              <a:rPr b="1" lang="en-US" sz="2250">
                <a:solidFill>
                  <a:srgbClr val="FFFFFF"/>
                </a:solidFill>
              </a:rPr>
              <a:t>- </a:t>
            </a:r>
            <a:r>
              <a:rPr b="1" i="0" lang="en-US" sz="22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главный узкий момент: память</a:t>
            </a:r>
            <a:endParaRPr b="0" i="0" sz="22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" name="Google Shape;67;p5"/>
          <p:cNvSpPr/>
          <p:nvPr/>
        </p:nvSpPr>
        <p:spPr>
          <a:xfrm>
            <a:off x="10698480" y="256032"/>
            <a:ext cx="978408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EBDAFF"/>
              </a:buClr>
              <a:buSzPts val="1080"/>
              <a:buFont typeface="Arial"/>
              <a:buNone/>
            </a:pPr>
            <a:r>
              <a:rPr b="1" i="0" lang="en-US" sz="1080" u="none" cap="none" strike="noStrike">
                <a:solidFill>
                  <a:srgbClr val="EBDAFF"/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  <a:endParaRPr b="0" i="0" sz="108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68" name="Google Shape;68;p5"/>
          <p:cNvCxnSpPr/>
          <p:nvPr/>
        </p:nvCxnSpPr>
        <p:spPr>
          <a:xfrm>
            <a:off x="502920" y="6510528"/>
            <a:ext cx="11183112" cy="0"/>
          </a:xfrm>
          <a:prstGeom prst="straightConnector1">
            <a:avLst/>
          </a:prstGeom>
          <a:noFill/>
          <a:ln cap="flat" cmpd="sng" w="10150">
            <a:solidFill>
              <a:srgbClr val="DAD6E2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9" name="Google Shape;69;p5"/>
          <p:cNvSpPr/>
          <p:nvPr/>
        </p:nvSpPr>
        <p:spPr>
          <a:xfrm>
            <a:off x="502920" y="6574536"/>
            <a:ext cx="9966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66273"/>
              </a:buClr>
              <a:buSzPts val="1020"/>
              <a:buFont typeface="Arial"/>
              <a:buNone/>
            </a:pPr>
            <a:r>
              <a:rPr b="0" i="0" lang="en-US" sz="1020" u="none" cap="none" strike="noStrike">
                <a:solidFill>
                  <a:srgbClr val="666273"/>
                </a:solidFill>
                <a:latin typeface="Arial"/>
                <a:ea typeface="Arial"/>
                <a:cs typeface="Arial"/>
                <a:sym typeface="Arial"/>
              </a:rPr>
              <a:t>Источник: статья, с. 1</a:t>
            </a:r>
            <a:r>
              <a:rPr lang="en-US" sz="1020">
                <a:solidFill>
                  <a:srgbClr val="666273"/>
                </a:solidFill>
              </a:rPr>
              <a:t>-</a:t>
            </a:r>
            <a:r>
              <a:rPr b="0" i="0" lang="en-US" sz="1020" u="none" cap="none" strike="noStrike">
                <a:solidFill>
                  <a:srgbClr val="666273"/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  <a:r>
              <a:rPr lang="en-US" sz="1020">
                <a:solidFill>
                  <a:srgbClr val="666273"/>
                </a:solidFill>
              </a:rPr>
              <a:t>, параграф </a:t>
            </a:r>
            <a:r>
              <a:rPr b="0" i="0" lang="en-US" sz="1020" u="none" cap="none" strike="noStrike">
                <a:solidFill>
                  <a:srgbClr val="666273"/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  <a:endParaRPr b="0" i="0" sz="102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" name="Google Shape;70;p5"/>
          <p:cNvSpPr/>
          <p:nvPr/>
        </p:nvSpPr>
        <p:spPr>
          <a:xfrm>
            <a:off x="11109960" y="6565392"/>
            <a:ext cx="566928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7E10FF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7E10FF"/>
                </a:solidFill>
                <a:latin typeface="Arial"/>
                <a:ea typeface="Arial"/>
                <a:cs typeface="Arial"/>
                <a:sym typeface="Arial"/>
              </a:rPr>
              <a:t>3/19</a:t>
            </a:r>
            <a:endParaRPr b="0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1" name="Google Shape;71;p5"/>
          <p:cNvSpPr/>
          <p:nvPr/>
        </p:nvSpPr>
        <p:spPr>
          <a:xfrm>
            <a:off x="585216" y="1005840"/>
            <a:ext cx="5330952" cy="1847088"/>
          </a:xfrm>
          <a:prstGeom prst="rect">
            <a:avLst/>
          </a:prstGeom>
          <a:solidFill>
            <a:srgbClr val="F9F8FC"/>
          </a:solidFill>
          <a:ln cap="flat" cmpd="sng" w="9525">
            <a:solidFill>
              <a:srgbClr val="F9F8F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2" name="Google Shape;72;p5"/>
          <p:cNvSpPr/>
          <p:nvPr/>
        </p:nvSpPr>
        <p:spPr>
          <a:xfrm>
            <a:off x="585216" y="1005840"/>
            <a:ext cx="73152" cy="1847088"/>
          </a:xfrm>
          <a:prstGeom prst="rect">
            <a:avLst/>
          </a:prstGeom>
          <a:solidFill>
            <a:srgbClr val="F93F41"/>
          </a:solidFill>
          <a:ln cap="flat" cmpd="sng" w="9525">
            <a:solidFill>
              <a:srgbClr val="F93F4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3" name="Google Shape;73;p5"/>
          <p:cNvSpPr/>
          <p:nvPr/>
        </p:nvSpPr>
        <p:spPr>
          <a:xfrm>
            <a:off x="786384" y="1170432"/>
            <a:ext cx="4946904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93F41"/>
              </a:buClr>
              <a:buSzPts val="1820"/>
              <a:buFont typeface="Arial"/>
              <a:buNone/>
            </a:pPr>
            <a:r>
              <a:rPr b="1" i="0" lang="en-US" sz="1820" u="none" cap="none" strike="noStrike">
                <a:solidFill>
                  <a:srgbClr val="F93F41"/>
                </a:solidFill>
                <a:latin typeface="Arial"/>
                <a:ea typeface="Arial"/>
                <a:cs typeface="Arial"/>
                <a:sym typeface="Arial"/>
              </a:rPr>
              <a:t>Проблема</a:t>
            </a:r>
            <a:endParaRPr b="0" i="0" sz="182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4" name="Google Shape;74;p5"/>
          <p:cNvSpPr/>
          <p:nvPr/>
        </p:nvSpPr>
        <p:spPr>
          <a:xfrm>
            <a:off x="786384" y="1609344"/>
            <a:ext cx="4919472" cy="11155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C3945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3C3945"/>
                </a:solidFill>
                <a:latin typeface="Arial"/>
                <a:ea typeface="Arial"/>
                <a:cs typeface="Arial"/>
                <a:sym typeface="Arial"/>
              </a:rPr>
              <a:t>При autoregressive generation модель многократно считывает веса. Скорость часто ограничена пропускной способностью памяти, а не FLOPS.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5" name="Google Shape;75;p5"/>
          <p:cNvSpPr/>
          <p:nvPr/>
        </p:nvSpPr>
        <p:spPr>
          <a:xfrm>
            <a:off x="6190488" y="1005840"/>
            <a:ext cx="5349240" cy="1847088"/>
          </a:xfrm>
          <a:prstGeom prst="rect">
            <a:avLst/>
          </a:prstGeom>
          <a:solidFill>
            <a:srgbClr val="F9F8FC"/>
          </a:solidFill>
          <a:ln cap="flat" cmpd="sng" w="9525">
            <a:solidFill>
              <a:srgbClr val="F9F8F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6" name="Google Shape;76;p5"/>
          <p:cNvSpPr/>
          <p:nvPr/>
        </p:nvSpPr>
        <p:spPr>
          <a:xfrm>
            <a:off x="6190488" y="1005840"/>
            <a:ext cx="73152" cy="1847088"/>
          </a:xfrm>
          <a:prstGeom prst="rect">
            <a:avLst/>
          </a:prstGeom>
          <a:solidFill>
            <a:srgbClr val="0069FF"/>
          </a:solidFill>
          <a:ln cap="flat" cmpd="sng" w="9525">
            <a:solidFill>
              <a:srgbClr val="0069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7" name="Google Shape;77;p5"/>
          <p:cNvSpPr/>
          <p:nvPr/>
        </p:nvSpPr>
        <p:spPr>
          <a:xfrm>
            <a:off x="6391656" y="1170432"/>
            <a:ext cx="4965192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69FF"/>
              </a:buClr>
              <a:buSzPts val="1820"/>
              <a:buFont typeface="Arial"/>
              <a:buNone/>
            </a:pPr>
            <a:r>
              <a:rPr b="1" i="0" lang="en-US" sz="1820" u="none" cap="none" strike="noStrike">
                <a:solidFill>
                  <a:srgbClr val="0069FF"/>
                </a:solidFill>
                <a:latin typeface="Arial"/>
                <a:ea typeface="Arial"/>
                <a:cs typeface="Arial"/>
                <a:sym typeface="Arial"/>
              </a:rPr>
              <a:t>Гипотеза SeedLM</a:t>
            </a:r>
            <a:endParaRPr b="0" i="0" sz="182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" name="Google Shape;78;p5"/>
          <p:cNvSpPr/>
          <p:nvPr/>
        </p:nvSpPr>
        <p:spPr>
          <a:xfrm>
            <a:off x="6391656" y="1609344"/>
            <a:ext cx="4937760" cy="11155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C3945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3C3945"/>
                </a:solidFill>
                <a:latin typeface="Arial"/>
                <a:ea typeface="Arial"/>
                <a:cs typeface="Arial"/>
                <a:sym typeface="Arial"/>
              </a:rPr>
              <a:t>Меньше читать из памяти, а недостающие значения вычислять из компактного seed и коэффициентов.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9" name="Google Shape;79;p5"/>
          <p:cNvSpPr/>
          <p:nvPr/>
        </p:nvSpPr>
        <p:spPr>
          <a:xfrm>
            <a:off x="667512" y="3172968"/>
            <a:ext cx="10863072" cy="2386584"/>
          </a:xfrm>
          <a:prstGeom prst="rect">
            <a:avLst/>
          </a:prstGeom>
          <a:solidFill>
            <a:srgbClr val="F7F3FF"/>
          </a:solidFill>
          <a:ln cap="flat" cmpd="sng" w="9525">
            <a:solidFill>
              <a:srgbClr val="F7F3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0" name="Google Shape;80;p5"/>
          <p:cNvSpPr/>
          <p:nvPr/>
        </p:nvSpPr>
        <p:spPr>
          <a:xfrm>
            <a:off x="969264" y="3657600"/>
            <a:ext cx="2743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4131A"/>
              </a:buClr>
              <a:buSzPts val="2700"/>
              <a:buFont typeface="Arial"/>
              <a:buNone/>
            </a:pPr>
            <a:r>
              <a:rPr b="1" i="0" lang="en-US" sz="2700" u="none" cap="none" strike="noStrike">
                <a:solidFill>
                  <a:srgbClr val="14131A"/>
                </a:solidFill>
                <a:latin typeface="Arial"/>
                <a:ea typeface="Arial"/>
                <a:cs typeface="Arial"/>
                <a:sym typeface="Arial"/>
              </a:rPr>
              <a:t>16 бит / вес</a:t>
            </a:r>
            <a:endParaRPr b="0" i="0" sz="2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1" name="Google Shape;81;p5"/>
          <p:cNvSpPr/>
          <p:nvPr/>
        </p:nvSpPr>
        <p:spPr>
          <a:xfrm>
            <a:off x="4014216" y="3675888"/>
            <a:ext cx="1005840" cy="4480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7E10FF"/>
              </a:buClr>
              <a:buSzPts val="3500"/>
              <a:buFont typeface="Arial"/>
              <a:buNone/>
            </a:pPr>
            <a:r>
              <a:rPr b="1" lang="en-US" sz="3500">
                <a:solidFill>
                  <a:srgbClr val="7E10FF"/>
                </a:solidFill>
              </a:rPr>
              <a:t>&gt;</a:t>
            </a:r>
            <a:endParaRPr b="0" i="0" sz="35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" name="Google Shape;82;p5"/>
          <p:cNvSpPr/>
          <p:nvPr/>
        </p:nvSpPr>
        <p:spPr>
          <a:xfrm>
            <a:off x="5029200" y="3657600"/>
            <a:ext cx="3127248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7E10FF"/>
              </a:buClr>
              <a:buSzPts val="2700"/>
              <a:buFont typeface="Arial"/>
              <a:buNone/>
            </a:pPr>
            <a:r>
              <a:rPr b="1" lang="en-US" sz="2700">
                <a:solidFill>
                  <a:srgbClr val="7E10FF"/>
                </a:solidFill>
              </a:rPr>
              <a:t>3-4 </a:t>
            </a:r>
            <a:r>
              <a:rPr b="1" i="0" lang="en-US" sz="2700" u="none" cap="none" strike="noStrike">
                <a:solidFill>
                  <a:srgbClr val="7E10FF"/>
                </a:solidFill>
                <a:latin typeface="Arial"/>
                <a:ea typeface="Arial"/>
                <a:cs typeface="Arial"/>
                <a:sym typeface="Arial"/>
              </a:rPr>
              <a:t>бита / вес</a:t>
            </a:r>
            <a:endParaRPr b="0" i="0" sz="2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" name="Google Shape;83;p5"/>
          <p:cNvSpPr/>
          <p:nvPr/>
        </p:nvSpPr>
        <p:spPr>
          <a:xfrm rot="5400000">
            <a:off x="8458158" y="3657498"/>
            <a:ext cx="594300" cy="448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7E10FF"/>
              </a:buClr>
              <a:buSzPts val="3500"/>
              <a:buFont typeface="Arial"/>
              <a:buNone/>
            </a:pPr>
            <a:r>
              <a:rPr b="1" lang="en-US" sz="3500">
                <a:solidFill>
                  <a:srgbClr val="7E10FF"/>
                </a:solidFill>
              </a:rPr>
              <a:t>&gt;</a:t>
            </a:r>
            <a:endParaRPr b="0" i="0" sz="35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" name="Google Shape;84;p5"/>
          <p:cNvSpPr/>
          <p:nvPr/>
        </p:nvSpPr>
        <p:spPr>
          <a:xfrm>
            <a:off x="9180576" y="3575304"/>
            <a:ext cx="1929384" cy="8046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3C3945"/>
              </a:buClr>
              <a:buSzPts val="1900"/>
              <a:buFont typeface="Arial"/>
              <a:buNone/>
            </a:pPr>
            <a:r>
              <a:rPr b="1" i="0" lang="en-US" sz="1900" u="none" cap="none" strike="noStrike">
                <a:solidFill>
                  <a:srgbClr val="3C3945"/>
                </a:solidFill>
                <a:latin typeface="Arial"/>
                <a:ea typeface="Arial"/>
                <a:cs typeface="Arial"/>
                <a:sym typeface="Arial"/>
              </a:rPr>
              <a:t>Меньше</a:t>
            </a:r>
            <a:endParaRPr b="0" i="0" sz="1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3C3945"/>
              </a:buClr>
              <a:buSzPts val="1900"/>
              <a:buFont typeface="Arial"/>
              <a:buNone/>
            </a:pPr>
            <a:r>
              <a:rPr b="1" i="0" lang="en-US" sz="1900" u="none" cap="none" strike="noStrike">
                <a:solidFill>
                  <a:srgbClr val="3C3945"/>
                </a:solidFill>
                <a:latin typeface="Arial"/>
                <a:ea typeface="Arial"/>
                <a:cs typeface="Arial"/>
                <a:sym typeface="Arial"/>
              </a:rPr>
              <a:t>DRAM reads</a:t>
            </a:r>
            <a:endParaRPr b="0" i="0" sz="1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" name="Google Shape;85;p5"/>
          <p:cNvSpPr/>
          <p:nvPr/>
        </p:nvSpPr>
        <p:spPr>
          <a:xfrm>
            <a:off x="996696" y="4882896"/>
            <a:ext cx="978408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3C3945"/>
              </a:buClr>
              <a:buSzPts val="1700"/>
              <a:buFont typeface="Arial"/>
              <a:buNone/>
            </a:pPr>
            <a:r>
              <a:rPr lang="en-US" sz="1700">
                <a:solidFill>
                  <a:srgbClr val="3C3945"/>
                </a:solidFill>
              </a:rPr>
              <a:t>Т.е. Обмен - д</a:t>
            </a:r>
            <a:r>
              <a:rPr b="0" i="0" lang="en-US" sz="1700" u="none" cap="none" strike="noStrike">
                <a:solidFill>
                  <a:srgbClr val="3C3945"/>
                </a:solidFill>
                <a:latin typeface="Arial"/>
                <a:ea typeface="Arial"/>
                <a:cs typeface="Arial"/>
                <a:sym typeface="Arial"/>
              </a:rPr>
              <a:t>ополнительные вычисления вместо дорогих обращений к DRAM.</a:t>
            </a:r>
            <a:endParaRPr b="0" i="0" sz="1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6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7E10FF"/>
          </a:solidFill>
          <a:ln cap="flat" cmpd="sng" w="9525">
            <a:solidFill>
              <a:srgbClr val="7E1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2" name="Google Shape;92;p6"/>
          <p:cNvSpPr/>
          <p:nvPr/>
        </p:nvSpPr>
        <p:spPr>
          <a:xfrm>
            <a:off x="502920" y="128016"/>
            <a:ext cx="10698480" cy="4297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50"/>
              <a:buFont typeface="Arial"/>
              <a:buNone/>
            </a:pPr>
            <a:r>
              <a:rPr b="1" i="0" lang="en-US" sz="22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2. Related Work </a:t>
            </a:r>
            <a:r>
              <a:rPr b="1" lang="en-US" sz="2250">
                <a:solidFill>
                  <a:srgbClr val="FFFFFF"/>
                </a:solidFill>
              </a:rPr>
              <a:t>- </a:t>
            </a:r>
            <a:r>
              <a:rPr b="1" i="0" lang="en-US" sz="22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что уже было известно</a:t>
            </a:r>
            <a:endParaRPr b="0" i="0" sz="22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3" name="Google Shape;93;p6"/>
          <p:cNvSpPr/>
          <p:nvPr/>
        </p:nvSpPr>
        <p:spPr>
          <a:xfrm>
            <a:off x="10698480" y="256032"/>
            <a:ext cx="978408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EBDAFF"/>
              </a:buClr>
              <a:buSzPts val="1080"/>
              <a:buFont typeface="Arial"/>
              <a:buNone/>
            </a:pPr>
            <a:r>
              <a:rPr b="1" i="0" lang="en-US" sz="1080" u="none" cap="none" strike="noStrike">
                <a:solidFill>
                  <a:srgbClr val="EBDAFF"/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  <a:endParaRPr b="0" i="0" sz="108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94" name="Google Shape;94;p6"/>
          <p:cNvCxnSpPr/>
          <p:nvPr/>
        </p:nvCxnSpPr>
        <p:spPr>
          <a:xfrm>
            <a:off x="502920" y="6510528"/>
            <a:ext cx="11183112" cy="0"/>
          </a:xfrm>
          <a:prstGeom prst="straightConnector1">
            <a:avLst/>
          </a:prstGeom>
          <a:noFill/>
          <a:ln cap="flat" cmpd="sng" w="10150">
            <a:solidFill>
              <a:srgbClr val="DAD6E2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95" name="Google Shape;95;p6"/>
          <p:cNvSpPr/>
          <p:nvPr/>
        </p:nvSpPr>
        <p:spPr>
          <a:xfrm>
            <a:off x="502920" y="6574536"/>
            <a:ext cx="9966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66273"/>
              </a:buClr>
              <a:buSzPts val="1020"/>
              <a:buFont typeface="Arial"/>
              <a:buNone/>
            </a:pPr>
            <a:r>
              <a:rPr b="0" i="0" lang="en-US" sz="1020" u="none" cap="none" strike="noStrike">
                <a:solidFill>
                  <a:srgbClr val="666273"/>
                </a:solidFill>
                <a:latin typeface="Arial"/>
                <a:ea typeface="Arial"/>
                <a:cs typeface="Arial"/>
                <a:sym typeface="Arial"/>
              </a:rPr>
              <a:t>Источник: статья, с. 2</a:t>
            </a:r>
            <a:r>
              <a:rPr lang="en-US" sz="1020">
                <a:solidFill>
                  <a:srgbClr val="666273"/>
                </a:solidFill>
              </a:rPr>
              <a:t>-</a:t>
            </a:r>
            <a:r>
              <a:rPr b="0" i="0" lang="en-US" sz="1020" u="none" cap="none" strike="noStrike">
                <a:solidFill>
                  <a:srgbClr val="666273"/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  <a:r>
              <a:rPr lang="en-US" sz="1020">
                <a:solidFill>
                  <a:srgbClr val="666273"/>
                </a:solidFill>
              </a:rPr>
              <a:t>, параграф </a:t>
            </a:r>
            <a:r>
              <a:rPr b="0" i="0" lang="en-US" sz="1020" u="none" cap="none" strike="noStrike">
                <a:solidFill>
                  <a:srgbClr val="666273"/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  <a:endParaRPr b="0" i="0" sz="102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" name="Google Shape;96;p6"/>
          <p:cNvSpPr/>
          <p:nvPr/>
        </p:nvSpPr>
        <p:spPr>
          <a:xfrm>
            <a:off x="11109960" y="6565392"/>
            <a:ext cx="566928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7E10FF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7E10FF"/>
                </a:solidFill>
                <a:latin typeface="Arial"/>
                <a:ea typeface="Arial"/>
                <a:cs typeface="Arial"/>
                <a:sym typeface="Arial"/>
              </a:rPr>
              <a:t>4/19</a:t>
            </a:r>
            <a:endParaRPr b="0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7" name="Google Shape;97;p6"/>
          <p:cNvSpPr/>
          <p:nvPr/>
        </p:nvSpPr>
        <p:spPr>
          <a:xfrm>
            <a:off x="585216" y="1005840"/>
            <a:ext cx="5303520" cy="1901952"/>
          </a:xfrm>
          <a:prstGeom prst="rect">
            <a:avLst/>
          </a:prstGeom>
          <a:solidFill>
            <a:srgbClr val="F9F8FC"/>
          </a:solidFill>
          <a:ln cap="flat" cmpd="sng" w="9525">
            <a:solidFill>
              <a:srgbClr val="F9F8F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8" name="Google Shape;98;p6"/>
          <p:cNvSpPr/>
          <p:nvPr/>
        </p:nvSpPr>
        <p:spPr>
          <a:xfrm>
            <a:off x="585216" y="1005840"/>
            <a:ext cx="73152" cy="1901952"/>
          </a:xfrm>
          <a:prstGeom prst="rect">
            <a:avLst/>
          </a:prstGeom>
          <a:solidFill>
            <a:srgbClr val="0069FF"/>
          </a:solidFill>
          <a:ln cap="flat" cmpd="sng" w="9525">
            <a:solidFill>
              <a:srgbClr val="0069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6"/>
          <p:cNvSpPr/>
          <p:nvPr/>
        </p:nvSpPr>
        <p:spPr>
          <a:xfrm>
            <a:off x="786384" y="1170432"/>
            <a:ext cx="4919472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69FF"/>
              </a:buClr>
              <a:buSzPts val="1820"/>
              <a:buFont typeface="Arial"/>
              <a:buNone/>
            </a:pPr>
            <a:r>
              <a:rPr b="1" i="0" lang="en-US" sz="1820" u="none" cap="none" strike="noStrike">
                <a:solidFill>
                  <a:srgbClr val="0069FF"/>
                </a:solidFill>
                <a:latin typeface="Arial"/>
                <a:ea typeface="Arial"/>
                <a:cs typeface="Arial"/>
                <a:sym typeface="Arial"/>
              </a:rPr>
              <a:t>Random basis: PRANC / NOLA</a:t>
            </a:r>
            <a:endParaRPr b="0" i="0" sz="182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0" name="Google Shape;100;p6"/>
          <p:cNvSpPr/>
          <p:nvPr/>
        </p:nvSpPr>
        <p:spPr>
          <a:xfrm>
            <a:off x="786384" y="1609344"/>
            <a:ext cx="4892040" cy="11704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C3945"/>
              </a:buClr>
              <a:buSzPts val="1700"/>
              <a:buFont typeface="Arial"/>
              <a:buNone/>
            </a:pPr>
            <a:r>
              <a:rPr b="0" i="0" lang="en-US" sz="1700" u="none" cap="none" strike="noStrike">
                <a:solidFill>
                  <a:srgbClr val="3C3945"/>
                </a:solidFill>
                <a:latin typeface="Arial"/>
                <a:ea typeface="Arial"/>
                <a:cs typeface="Arial"/>
                <a:sym typeface="Arial"/>
              </a:rPr>
              <a:t>Сжатие через линейные комбинации случайных базисов. SeedLM дополнительно оптимизирует seed и использует аппаратно простой LFSR.</a:t>
            </a:r>
            <a:endParaRPr b="0" i="0" sz="1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1" name="Google Shape;101;p6"/>
          <p:cNvSpPr/>
          <p:nvPr/>
        </p:nvSpPr>
        <p:spPr>
          <a:xfrm>
            <a:off x="6172200" y="1005840"/>
            <a:ext cx="5303520" cy="1901952"/>
          </a:xfrm>
          <a:prstGeom prst="rect">
            <a:avLst/>
          </a:prstGeom>
          <a:solidFill>
            <a:srgbClr val="F9F8FC"/>
          </a:solidFill>
          <a:ln cap="flat" cmpd="sng" w="9525">
            <a:solidFill>
              <a:srgbClr val="F9F8F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2" name="Google Shape;102;p6"/>
          <p:cNvSpPr/>
          <p:nvPr/>
        </p:nvSpPr>
        <p:spPr>
          <a:xfrm>
            <a:off x="6172200" y="1005840"/>
            <a:ext cx="73152" cy="1901952"/>
          </a:xfrm>
          <a:prstGeom prst="rect">
            <a:avLst/>
          </a:prstGeom>
          <a:solidFill>
            <a:srgbClr val="008C83"/>
          </a:solidFill>
          <a:ln cap="flat" cmpd="sng" w="9525">
            <a:solidFill>
              <a:srgbClr val="008C8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" name="Google Shape;103;p6"/>
          <p:cNvSpPr/>
          <p:nvPr/>
        </p:nvSpPr>
        <p:spPr>
          <a:xfrm>
            <a:off x="6373368" y="1170432"/>
            <a:ext cx="4919472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8C83"/>
              </a:buClr>
              <a:buSzPts val="1820"/>
              <a:buFont typeface="Arial"/>
              <a:buNone/>
            </a:pPr>
            <a:r>
              <a:rPr b="1" i="0" lang="en-US" sz="1820" u="none" cap="none" strike="noStrike">
                <a:solidFill>
                  <a:srgbClr val="008C83"/>
                </a:solidFill>
                <a:latin typeface="Arial"/>
                <a:ea typeface="Arial"/>
                <a:cs typeface="Arial"/>
                <a:sym typeface="Arial"/>
              </a:rPr>
              <a:t>Data-free compression</a:t>
            </a:r>
            <a:endParaRPr b="0" i="0" sz="182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4" name="Google Shape;104;p6"/>
          <p:cNvSpPr/>
          <p:nvPr/>
        </p:nvSpPr>
        <p:spPr>
          <a:xfrm>
            <a:off x="6373368" y="1609344"/>
            <a:ext cx="4892040" cy="11704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C3945"/>
              </a:buClr>
              <a:buSzPts val="1700"/>
              <a:buFont typeface="Arial"/>
              <a:buNone/>
            </a:pPr>
            <a:r>
              <a:rPr b="0" i="0" lang="en-US" sz="1700" u="none" cap="none" strike="noStrike">
                <a:solidFill>
                  <a:srgbClr val="3C3945"/>
                </a:solidFill>
                <a:latin typeface="Arial"/>
                <a:ea typeface="Arial"/>
                <a:cs typeface="Arial"/>
                <a:sym typeface="Arial"/>
              </a:rPr>
              <a:t>Сжатие без калибровочных текстов; веса уже обученной модели остаются единственным необходимым входом.</a:t>
            </a:r>
            <a:endParaRPr b="0" i="0" sz="1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5" name="Google Shape;105;p6"/>
          <p:cNvSpPr/>
          <p:nvPr/>
        </p:nvSpPr>
        <p:spPr>
          <a:xfrm>
            <a:off x="585216" y="3127248"/>
            <a:ext cx="5303520" cy="2011680"/>
          </a:xfrm>
          <a:prstGeom prst="rect">
            <a:avLst/>
          </a:prstGeom>
          <a:solidFill>
            <a:srgbClr val="F9F8FC"/>
          </a:solidFill>
          <a:ln cap="flat" cmpd="sng" w="9525">
            <a:solidFill>
              <a:srgbClr val="F9F8F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6"/>
          <p:cNvSpPr/>
          <p:nvPr/>
        </p:nvSpPr>
        <p:spPr>
          <a:xfrm>
            <a:off x="585216" y="3127248"/>
            <a:ext cx="73152" cy="2011680"/>
          </a:xfrm>
          <a:prstGeom prst="rect">
            <a:avLst/>
          </a:prstGeom>
          <a:solidFill>
            <a:srgbClr val="F93F41"/>
          </a:solidFill>
          <a:ln cap="flat" cmpd="sng" w="9525">
            <a:solidFill>
              <a:srgbClr val="F93F4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7" name="Google Shape;107;p6"/>
          <p:cNvSpPr/>
          <p:nvPr/>
        </p:nvSpPr>
        <p:spPr>
          <a:xfrm>
            <a:off x="786384" y="3291840"/>
            <a:ext cx="4919472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93F41"/>
              </a:buClr>
              <a:buSzPts val="1820"/>
              <a:buFont typeface="Arial"/>
              <a:buNone/>
            </a:pPr>
            <a:r>
              <a:rPr b="1" i="0" lang="en-US" sz="1820" u="none" cap="none" strike="noStrike">
                <a:solidFill>
                  <a:srgbClr val="F93F41"/>
                </a:solidFill>
                <a:latin typeface="Arial"/>
                <a:ea typeface="Arial"/>
                <a:cs typeface="Arial"/>
                <a:sym typeface="Arial"/>
              </a:rPr>
              <a:t>Calibration-based: AWQ / GPTQ / QuIP#</a:t>
            </a:r>
            <a:endParaRPr b="0" i="0" sz="182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8" name="Google Shape;108;p6"/>
          <p:cNvSpPr/>
          <p:nvPr/>
        </p:nvSpPr>
        <p:spPr>
          <a:xfrm>
            <a:off x="786384" y="3730752"/>
            <a:ext cx="4892040" cy="1280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C3945"/>
              </a:buClr>
              <a:buSzPts val="1700"/>
              <a:buFont typeface="Arial"/>
              <a:buNone/>
            </a:pPr>
            <a:r>
              <a:rPr b="0" i="0" lang="en-US" sz="1700" u="none" cap="none" strike="noStrike">
                <a:solidFill>
                  <a:srgbClr val="3C3945"/>
                </a:solidFill>
                <a:latin typeface="Arial"/>
                <a:ea typeface="Arial"/>
                <a:cs typeface="Arial"/>
                <a:sym typeface="Arial"/>
              </a:rPr>
              <a:t>Используют калибровочные активации или оценки чувствительности весов; могут обеспечивать высокое качество, но требуют данных.</a:t>
            </a:r>
            <a:endParaRPr b="0" i="0" sz="1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9" name="Google Shape;109;p6"/>
          <p:cNvSpPr/>
          <p:nvPr/>
        </p:nvSpPr>
        <p:spPr>
          <a:xfrm>
            <a:off x="6172200" y="3127248"/>
            <a:ext cx="5303520" cy="2011680"/>
          </a:xfrm>
          <a:prstGeom prst="rect">
            <a:avLst/>
          </a:prstGeom>
          <a:solidFill>
            <a:srgbClr val="F9F8FC"/>
          </a:solidFill>
          <a:ln cap="flat" cmpd="sng" w="9525">
            <a:solidFill>
              <a:srgbClr val="F9F8F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0" name="Google Shape;110;p6"/>
          <p:cNvSpPr/>
          <p:nvPr/>
        </p:nvSpPr>
        <p:spPr>
          <a:xfrm>
            <a:off x="6172200" y="3127248"/>
            <a:ext cx="73152" cy="2011680"/>
          </a:xfrm>
          <a:prstGeom prst="rect">
            <a:avLst/>
          </a:prstGeom>
          <a:solidFill>
            <a:srgbClr val="7E10FF"/>
          </a:solidFill>
          <a:ln cap="flat" cmpd="sng" w="9525">
            <a:solidFill>
              <a:srgbClr val="7E1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6"/>
          <p:cNvSpPr/>
          <p:nvPr/>
        </p:nvSpPr>
        <p:spPr>
          <a:xfrm>
            <a:off x="6373368" y="3291840"/>
            <a:ext cx="4919472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E10FF"/>
              </a:buClr>
              <a:buSzPts val="1820"/>
              <a:buFont typeface="Arial"/>
              <a:buNone/>
            </a:pPr>
            <a:r>
              <a:rPr b="1" i="0" lang="en-US" sz="1820" u="none" cap="none" strike="noStrike">
                <a:solidFill>
                  <a:srgbClr val="7E10FF"/>
                </a:solidFill>
                <a:latin typeface="Arial"/>
                <a:ea typeface="Arial"/>
                <a:cs typeface="Arial"/>
                <a:sym typeface="Arial"/>
              </a:rPr>
              <a:t>Отличие SeedLM</a:t>
            </a:r>
            <a:endParaRPr b="0" i="0" sz="182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2" name="Google Shape;112;p6"/>
          <p:cNvSpPr/>
          <p:nvPr/>
        </p:nvSpPr>
        <p:spPr>
          <a:xfrm>
            <a:off x="6373368" y="3730752"/>
            <a:ext cx="4892040" cy="1280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C3945"/>
              </a:buClr>
              <a:buSzPts val="1700"/>
              <a:buFont typeface="Arial"/>
              <a:buNone/>
            </a:pPr>
            <a:r>
              <a:rPr b="0" i="0" lang="en-US" sz="1700" u="none" cap="none" strike="noStrike">
                <a:solidFill>
                  <a:srgbClr val="3C3945"/>
                </a:solidFill>
                <a:latin typeface="Arial"/>
                <a:ea typeface="Arial"/>
                <a:cs typeface="Arial"/>
                <a:sym typeface="Arial"/>
              </a:rPr>
              <a:t>Никакого fine-tuning и калибровки: для каждого блока весов ищется seed и небольшой набор коэффициентов.</a:t>
            </a:r>
            <a:endParaRPr b="0" i="0" sz="1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7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7E10FF"/>
          </a:solidFill>
          <a:ln cap="flat" cmpd="sng" w="9525">
            <a:solidFill>
              <a:srgbClr val="7E1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7"/>
          <p:cNvSpPr/>
          <p:nvPr/>
        </p:nvSpPr>
        <p:spPr>
          <a:xfrm>
            <a:off x="502920" y="128016"/>
            <a:ext cx="10698480" cy="4297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50"/>
              <a:buFont typeface="Arial"/>
              <a:buNone/>
            </a:pPr>
            <a:r>
              <a:rPr b="1" i="0" lang="en-US" sz="22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3. </a:t>
            </a:r>
            <a:r>
              <a:rPr b="1" lang="en-US" sz="2250">
                <a:solidFill>
                  <a:srgbClr val="FFFFFF"/>
                </a:solidFill>
              </a:rPr>
              <a:t>О</a:t>
            </a:r>
            <a:r>
              <a:rPr b="1" i="0" lang="en-US" sz="22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сновная идея</a:t>
            </a:r>
            <a:endParaRPr b="0" i="0" sz="22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0" name="Google Shape;120;p7"/>
          <p:cNvSpPr/>
          <p:nvPr/>
        </p:nvSpPr>
        <p:spPr>
          <a:xfrm>
            <a:off x="10698480" y="256032"/>
            <a:ext cx="978408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EBDAFF"/>
              </a:buClr>
              <a:buSzPts val="1080"/>
              <a:buFont typeface="Arial"/>
              <a:buNone/>
            </a:pPr>
            <a:r>
              <a:rPr b="1" i="0" lang="en-US" sz="1080" u="none" cap="none" strike="noStrike">
                <a:solidFill>
                  <a:srgbClr val="EBDAFF"/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  <a:endParaRPr b="0" i="0" sz="108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21" name="Google Shape;121;p7"/>
          <p:cNvCxnSpPr/>
          <p:nvPr/>
        </p:nvCxnSpPr>
        <p:spPr>
          <a:xfrm>
            <a:off x="502920" y="6510528"/>
            <a:ext cx="11183112" cy="0"/>
          </a:xfrm>
          <a:prstGeom prst="straightConnector1">
            <a:avLst/>
          </a:prstGeom>
          <a:noFill/>
          <a:ln cap="flat" cmpd="sng" w="10150">
            <a:solidFill>
              <a:srgbClr val="DAD6E2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22" name="Google Shape;122;p7"/>
          <p:cNvSpPr/>
          <p:nvPr/>
        </p:nvSpPr>
        <p:spPr>
          <a:xfrm>
            <a:off x="502920" y="6574536"/>
            <a:ext cx="9966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66273"/>
              </a:buClr>
              <a:buSzPts val="1020"/>
              <a:buFont typeface="Arial"/>
              <a:buNone/>
            </a:pPr>
            <a:r>
              <a:rPr b="0" i="0" lang="en-US" sz="1020" u="none" cap="none" strike="noStrike">
                <a:solidFill>
                  <a:srgbClr val="666273"/>
                </a:solidFill>
                <a:latin typeface="Arial"/>
                <a:ea typeface="Arial"/>
                <a:cs typeface="Arial"/>
                <a:sym typeface="Arial"/>
              </a:rPr>
              <a:t>Источник: статья, с. 3, рис. 2</a:t>
            </a:r>
            <a:r>
              <a:rPr lang="en-US" sz="1020">
                <a:solidFill>
                  <a:srgbClr val="666273"/>
                </a:solidFill>
              </a:rPr>
              <a:t>, параграф </a:t>
            </a:r>
            <a:r>
              <a:rPr b="0" i="0" lang="en-US" sz="1020" u="none" cap="none" strike="noStrike">
                <a:solidFill>
                  <a:srgbClr val="666273"/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  <a:endParaRPr b="0" i="0" sz="102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3" name="Google Shape;123;p7"/>
          <p:cNvSpPr/>
          <p:nvPr/>
        </p:nvSpPr>
        <p:spPr>
          <a:xfrm>
            <a:off x="11109960" y="6565392"/>
            <a:ext cx="566928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7E10FF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7E10FF"/>
                </a:solidFill>
                <a:latin typeface="Arial"/>
                <a:ea typeface="Arial"/>
                <a:cs typeface="Arial"/>
                <a:sym typeface="Arial"/>
              </a:rPr>
              <a:t>5/19</a:t>
            </a:r>
            <a:endParaRPr b="0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" name="Google Shape;124;p7"/>
          <p:cNvSpPr/>
          <p:nvPr/>
        </p:nvSpPr>
        <p:spPr>
          <a:xfrm>
            <a:off x="669000" y="765563"/>
            <a:ext cx="10854000" cy="5436600"/>
          </a:xfrm>
          <a:prstGeom prst="rect">
            <a:avLst/>
          </a:prstGeom>
          <a:solidFill>
            <a:srgbClr val="F8F7FB"/>
          </a:solidFill>
          <a:ln cap="flat" cmpd="sng" w="9525">
            <a:solidFill>
              <a:srgbClr val="F8F7F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5" name="Google Shape;125;p7"/>
          <p:cNvSpPr/>
          <p:nvPr/>
        </p:nvSpPr>
        <p:spPr>
          <a:xfrm>
            <a:off x="6445809" y="1536675"/>
            <a:ext cx="3685200" cy="713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7E10FF"/>
              </a:buClr>
              <a:buSzPts val="4100"/>
              <a:buFont typeface="Arial"/>
              <a:buNone/>
            </a:pPr>
            <a:r>
              <a:rPr b="1" i="0" lang="en-US" sz="4100" u="none" cap="none" strike="noStrike">
                <a:solidFill>
                  <a:srgbClr val="7E10FF"/>
                </a:solidFill>
                <a:latin typeface="Arial"/>
                <a:ea typeface="Arial"/>
                <a:cs typeface="Arial"/>
                <a:sym typeface="Arial"/>
              </a:rPr>
              <a:t>w </a:t>
            </a:r>
            <a:r>
              <a:rPr b="1" lang="en-US" sz="4100">
                <a:solidFill>
                  <a:srgbClr val="7E10FF"/>
                </a:solidFill>
              </a:rPr>
              <a:t>~=</a:t>
            </a:r>
            <a:r>
              <a:rPr b="1" i="0" lang="en-US" sz="4100" u="none" cap="none" strike="noStrike">
                <a:solidFill>
                  <a:srgbClr val="7E10FF"/>
                </a:solidFill>
                <a:latin typeface="Arial"/>
                <a:ea typeface="Arial"/>
                <a:cs typeface="Arial"/>
                <a:sym typeface="Arial"/>
              </a:rPr>
              <a:t> U(s) </a:t>
            </a:r>
            <a:r>
              <a:rPr b="1" lang="en-US" sz="4100">
                <a:solidFill>
                  <a:srgbClr val="7E10FF"/>
                </a:solidFill>
              </a:rPr>
              <a:t>*</a:t>
            </a:r>
            <a:r>
              <a:rPr b="1" i="0" lang="en-US" sz="4100" u="none" cap="none" strike="noStrike">
                <a:solidFill>
                  <a:srgbClr val="7E10FF"/>
                </a:solidFill>
                <a:latin typeface="Arial"/>
                <a:ea typeface="Arial"/>
                <a:cs typeface="Arial"/>
                <a:sym typeface="Arial"/>
              </a:rPr>
              <a:t> t</a:t>
            </a:r>
            <a:endParaRPr b="0" i="0" sz="4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6" name="Google Shape;126;p7"/>
          <p:cNvSpPr/>
          <p:nvPr/>
        </p:nvSpPr>
        <p:spPr>
          <a:xfrm>
            <a:off x="925038" y="3592068"/>
            <a:ext cx="3218700" cy="1197900"/>
          </a:xfrm>
          <a:prstGeom prst="rect">
            <a:avLst/>
          </a:prstGeom>
          <a:solidFill>
            <a:srgbClr val="E9E7F0"/>
          </a:solidFill>
          <a:ln cap="flat" cmpd="sng" w="9525">
            <a:solidFill>
              <a:srgbClr val="E9E7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7" name="Google Shape;127;p7"/>
          <p:cNvSpPr/>
          <p:nvPr/>
        </p:nvSpPr>
        <p:spPr>
          <a:xfrm>
            <a:off x="892013" y="3832191"/>
            <a:ext cx="3218700" cy="375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7E10FF"/>
              </a:buClr>
              <a:buSzPts val="2500"/>
              <a:buFont typeface="Arial"/>
              <a:buNone/>
            </a:pPr>
            <a:r>
              <a:rPr b="1" i="0" lang="en-US" sz="2500" u="none" cap="none" strike="noStrike">
                <a:solidFill>
                  <a:srgbClr val="7E10FF"/>
                </a:solidFill>
                <a:latin typeface="Arial"/>
                <a:ea typeface="Arial"/>
                <a:cs typeface="Arial"/>
                <a:sym typeface="Arial"/>
              </a:rPr>
              <a:t>w</a:t>
            </a:r>
            <a:endParaRPr b="0" i="0" sz="25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8" name="Google Shape;128;p7"/>
          <p:cNvSpPr/>
          <p:nvPr/>
        </p:nvSpPr>
        <p:spPr>
          <a:xfrm>
            <a:off x="998239" y="4230059"/>
            <a:ext cx="3072300" cy="292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3C3945"/>
              </a:buClr>
              <a:buSzPts val="1470"/>
              <a:buFont typeface="Arial"/>
              <a:buNone/>
            </a:pPr>
            <a:r>
              <a:rPr lang="en-US" sz="1470">
                <a:solidFill>
                  <a:srgbClr val="3C3945"/>
                </a:solidFill>
              </a:rPr>
              <a:t>Weight Block</a:t>
            </a:r>
            <a:endParaRPr b="0" i="0" sz="147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9" name="Google Shape;129;p7"/>
          <p:cNvSpPr/>
          <p:nvPr/>
        </p:nvSpPr>
        <p:spPr>
          <a:xfrm>
            <a:off x="4584438" y="3592068"/>
            <a:ext cx="3218700" cy="1197900"/>
          </a:xfrm>
          <a:prstGeom prst="rect">
            <a:avLst/>
          </a:prstGeom>
          <a:solidFill>
            <a:srgbClr val="E6EEFF"/>
          </a:solidFill>
          <a:ln cap="flat" cmpd="sng" w="9525">
            <a:solidFill>
              <a:srgbClr val="E6EE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0" name="Google Shape;130;p7"/>
          <p:cNvSpPr/>
          <p:nvPr/>
        </p:nvSpPr>
        <p:spPr>
          <a:xfrm>
            <a:off x="4584438" y="3832191"/>
            <a:ext cx="3218700" cy="375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7E10FF"/>
              </a:buClr>
              <a:buSzPts val="2500"/>
              <a:buFont typeface="Arial"/>
              <a:buNone/>
            </a:pPr>
            <a:r>
              <a:rPr b="1" i="0" lang="en-US" sz="2500" u="none" cap="none" strike="noStrike">
                <a:solidFill>
                  <a:srgbClr val="7E10FF"/>
                </a:solidFill>
                <a:latin typeface="Arial"/>
                <a:ea typeface="Arial"/>
                <a:cs typeface="Arial"/>
                <a:sym typeface="Arial"/>
              </a:rPr>
              <a:t>U(s)</a:t>
            </a:r>
            <a:endParaRPr b="0" i="0" sz="25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1" name="Google Shape;131;p7"/>
          <p:cNvSpPr/>
          <p:nvPr/>
        </p:nvSpPr>
        <p:spPr>
          <a:xfrm>
            <a:off x="4637553" y="4265897"/>
            <a:ext cx="3072300" cy="292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3C3945"/>
              </a:buClr>
              <a:buSzPts val="1470"/>
              <a:buFont typeface="Arial"/>
              <a:buNone/>
            </a:pPr>
            <a:r>
              <a:rPr lang="en-US" sz="1470">
                <a:solidFill>
                  <a:srgbClr val="3C3945"/>
                </a:solidFill>
              </a:rPr>
              <a:t>Random Matrix</a:t>
            </a:r>
            <a:endParaRPr b="0" i="0" sz="147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2" name="Google Shape;132;p7"/>
          <p:cNvSpPr/>
          <p:nvPr/>
        </p:nvSpPr>
        <p:spPr>
          <a:xfrm>
            <a:off x="8243839" y="3592068"/>
            <a:ext cx="3218700" cy="1197900"/>
          </a:xfrm>
          <a:prstGeom prst="rect">
            <a:avLst/>
          </a:prstGeom>
          <a:solidFill>
            <a:srgbClr val="EFE0FF"/>
          </a:solidFill>
          <a:ln cap="flat" cmpd="sng" w="9525">
            <a:solidFill>
              <a:srgbClr val="EFE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3" name="Google Shape;133;p7"/>
          <p:cNvSpPr/>
          <p:nvPr/>
        </p:nvSpPr>
        <p:spPr>
          <a:xfrm>
            <a:off x="8243839" y="3832191"/>
            <a:ext cx="3218700" cy="375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7E10FF"/>
              </a:buClr>
              <a:buSzPts val="2500"/>
              <a:buFont typeface="Arial"/>
              <a:buNone/>
            </a:pPr>
            <a:r>
              <a:rPr b="1" i="0" lang="en-US" sz="2500" u="none" cap="none" strike="noStrike">
                <a:solidFill>
                  <a:srgbClr val="7E10FF"/>
                </a:solidFill>
                <a:latin typeface="Arial"/>
                <a:ea typeface="Arial"/>
                <a:cs typeface="Arial"/>
                <a:sym typeface="Arial"/>
              </a:rPr>
              <a:t>t</a:t>
            </a:r>
            <a:endParaRPr b="0" i="0" sz="25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4" name="Google Shape;134;p7"/>
          <p:cNvSpPr/>
          <p:nvPr/>
        </p:nvSpPr>
        <p:spPr>
          <a:xfrm>
            <a:off x="8317041" y="4301284"/>
            <a:ext cx="3072300" cy="292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3C3945"/>
              </a:buClr>
              <a:buSzPts val="1470"/>
              <a:buFont typeface="Arial"/>
              <a:buNone/>
            </a:pPr>
            <a:r>
              <a:rPr lang="en-US" sz="1470">
                <a:solidFill>
                  <a:srgbClr val="3C3945"/>
                </a:solidFill>
              </a:rPr>
              <a:t>Coefficients</a:t>
            </a:r>
            <a:endParaRPr b="0" i="0" sz="147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5" name="Google Shape;135;p7"/>
          <p:cNvSpPr/>
          <p:nvPr/>
        </p:nvSpPr>
        <p:spPr>
          <a:xfrm>
            <a:off x="1062222" y="4993472"/>
            <a:ext cx="10058400" cy="630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3C3945"/>
              </a:buClr>
              <a:buSzPts val="2050"/>
              <a:buFont typeface="Arial"/>
              <a:buNone/>
            </a:pPr>
            <a:r>
              <a:rPr b="1" i="0" lang="en-US" sz="2050" u="none" cap="none" strike="noStrike">
                <a:solidFill>
                  <a:srgbClr val="3C3945"/>
                </a:solidFill>
                <a:latin typeface="Arial"/>
                <a:ea typeface="Arial"/>
                <a:cs typeface="Arial"/>
                <a:sym typeface="Arial"/>
              </a:rPr>
              <a:t>Хран</a:t>
            </a:r>
            <a:r>
              <a:rPr b="1" lang="en-US" sz="2050">
                <a:solidFill>
                  <a:srgbClr val="3C3945"/>
                </a:solidFill>
              </a:rPr>
              <a:t>ение</a:t>
            </a:r>
            <a:r>
              <a:rPr b="1" i="0" lang="en-US" sz="2050" u="none" cap="none" strike="noStrike">
                <a:solidFill>
                  <a:srgbClr val="3C3945"/>
                </a:solidFill>
                <a:latin typeface="Arial"/>
                <a:ea typeface="Arial"/>
                <a:cs typeface="Arial"/>
                <a:sym typeface="Arial"/>
              </a:rPr>
              <a:t> НЕ всех вес</a:t>
            </a:r>
            <a:r>
              <a:rPr b="1" lang="en-US" sz="2050">
                <a:solidFill>
                  <a:srgbClr val="3C3945"/>
                </a:solidFill>
              </a:rPr>
              <a:t>ов</a:t>
            </a:r>
            <a:r>
              <a:rPr b="1" i="0" lang="en-US" sz="2050" u="none" cap="none" strike="noStrike">
                <a:solidFill>
                  <a:srgbClr val="3C3945"/>
                </a:solidFill>
                <a:latin typeface="Arial"/>
                <a:ea typeface="Arial"/>
                <a:cs typeface="Arial"/>
                <a:sym typeface="Arial"/>
              </a:rPr>
              <a:t>, а только seed + квантованные коэффициенты + общий показатель степени.</a:t>
            </a:r>
            <a:endParaRPr b="0" i="0" sz="2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36" name="Google Shape;136;p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98225" y="794600"/>
            <a:ext cx="4572000" cy="23526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7E10FF"/>
          </a:solidFill>
          <a:ln cap="flat" cmpd="sng" w="9525">
            <a:solidFill>
              <a:srgbClr val="7E1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"/>
          <p:cNvSpPr/>
          <p:nvPr/>
        </p:nvSpPr>
        <p:spPr>
          <a:xfrm>
            <a:off x="502920" y="128016"/>
            <a:ext cx="10698480" cy="4297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50"/>
              <a:buFont typeface="Arial"/>
              <a:buNone/>
            </a:pPr>
            <a:r>
              <a:rPr b="1" i="0" lang="en-US" sz="22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3.1. </a:t>
            </a:r>
            <a:r>
              <a:rPr b="1" lang="en-US" sz="2250">
                <a:solidFill>
                  <a:srgbClr val="FFFFFF"/>
                </a:solidFill>
              </a:rPr>
              <a:t>Г</a:t>
            </a:r>
            <a:r>
              <a:rPr b="1" i="0" lang="en-US" sz="22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енератор матрицы из seed (</a:t>
            </a:r>
            <a:r>
              <a:rPr b="1" lang="en-US" sz="2250">
                <a:solidFill>
                  <a:schemeClr val="lt1"/>
                </a:solidFill>
              </a:rPr>
              <a:t>Linear Feedback Shift Register </a:t>
            </a:r>
            <a:r>
              <a:rPr b="1" i="0" lang="en-US" sz="22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)</a:t>
            </a:r>
            <a:endParaRPr b="0" i="0" sz="22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4" name="Google Shape;144;p8"/>
          <p:cNvSpPr/>
          <p:nvPr/>
        </p:nvSpPr>
        <p:spPr>
          <a:xfrm>
            <a:off x="10698480" y="256032"/>
            <a:ext cx="978408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EBDAFF"/>
              </a:buClr>
              <a:buSzPts val="1080"/>
              <a:buFont typeface="Arial"/>
              <a:buNone/>
            </a:pPr>
            <a:r>
              <a:rPr b="1" i="0" lang="en-US" sz="1080" u="none" cap="none" strike="noStrike">
                <a:solidFill>
                  <a:srgbClr val="EBDAFF"/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  <a:endParaRPr b="0" i="0" sz="108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45" name="Google Shape;145;p8"/>
          <p:cNvCxnSpPr/>
          <p:nvPr/>
        </p:nvCxnSpPr>
        <p:spPr>
          <a:xfrm>
            <a:off x="502920" y="6510528"/>
            <a:ext cx="11183112" cy="0"/>
          </a:xfrm>
          <a:prstGeom prst="straightConnector1">
            <a:avLst/>
          </a:prstGeom>
          <a:noFill/>
          <a:ln cap="flat" cmpd="sng" w="10150">
            <a:solidFill>
              <a:srgbClr val="DAD6E2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46" name="Google Shape;146;p8"/>
          <p:cNvSpPr/>
          <p:nvPr/>
        </p:nvSpPr>
        <p:spPr>
          <a:xfrm>
            <a:off x="502920" y="6574536"/>
            <a:ext cx="9966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66273"/>
              </a:buClr>
              <a:buSzPts val="1020"/>
              <a:buFont typeface="Arial"/>
              <a:buNone/>
            </a:pPr>
            <a:r>
              <a:rPr b="0" i="0" lang="en-US" sz="1020" u="none" cap="none" strike="noStrike">
                <a:solidFill>
                  <a:srgbClr val="666273"/>
                </a:solidFill>
                <a:latin typeface="Arial"/>
                <a:ea typeface="Arial"/>
                <a:cs typeface="Arial"/>
                <a:sym typeface="Arial"/>
              </a:rPr>
              <a:t>Источник: статья, с. 4</a:t>
            </a:r>
            <a:r>
              <a:rPr lang="en-US" sz="1020">
                <a:solidFill>
                  <a:srgbClr val="666273"/>
                </a:solidFill>
              </a:rPr>
              <a:t>, параграф </a:t>
            </a:r>
            <a:r>
              <a:rPr b="0" i="0" lang="en-US" sz="1020" u="none" cap="none" strike="noStrike">
                <a:solidFill>
                  <a:srgbClr val="666273"/>
                </a:solidFill>
                <a:latin typeface="Arial"/>
                <a:ea typeface="Arial"/>
                <a:cs typeface="Arial"/>
                <a:sym typeface="Arial"/>
              </a:rPr>
              <a:t>3.1, рис. 3</a:t>
            </a:r>
            <a:endParaRPr b="0" i="0" sz="102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7" name="Google Shape;147;p8"/>
          <p:cNvSpPr/>
          <p:nvPr/>
        </p:nvSpPr>
        <p:spPr>
          <a:xfrm>
            <a:off x="11109960" y="6565392"/>
            <a:ext cx="566928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7E10FF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7E10FF"/>
                </a:solidFill>
                <a:latin typeface="Arial"/>
                <a:ea typeface="Arial"/>
                <a:cs typeface="Arial"/>
                <a:sym typeface="Arial"/>
              </a:rPr>
              <a:t>6/19</a:t>
            </a:r>
            <a:endParaRPr b="0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8" name="Google Shape;148;p8"/>
          <p:cNvSpPr/>
          <p:nvPr/>
        </p:nvSpPr>
        <p:spPr>
          <a:xfrm>
            <a:off x="640080" y="1060704"/>
            <a:ext cx="5230368" cy="2084832"/>
          </a:xfrm>
          <a:prstGeom prst="rect">
            <a:avLst/>
          </a:prstGeom>
          <a:solidFill>
            <a:srgbClr val="F9F8FC"/>
          </a:solidFill>
          <a:ln cap="flat" cmpd="sng" w="9525">
            <a:solidFill>
              <a:srgbClr val="F9F8F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"/>
          <p:cNvSpPr/>
          <p:nvPr/>
        </p:nvSpPr>
        <p:spPr>
          <a:xfrm>
            <a:off x="640080" y="1060704"/>
            <a:ext cx="73152" cy="2084832"/>
          </a:xfrm>
          <a:prstGeom prst="rect">
            <a:avLst/>
          </a:prstGeom>
          <a:solidFill>
            <a:srgbClr val="7E10FF"/>
          </a:solidFill>
          <a:ln cap="flat" cmpd="sng" w="9525">
            <a:solidFill>
              <a:srgbClr val="7E1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0" name="Google Shape;150;p8"/>
          <p:cNvSpPr/>
          <p:nvPr/>
        </p:nvSpPr>
        <p:spPr>
          <a:xfrm>
            <a:off x="841248" y="1225296"/>
            <a:ext cx="484632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E10FF"/>
              </a:buClr>
              <a:buSzPts val="1820"/>
              <a:buFont typeface="Arial"/>
              <a:buNone/>
            </a:pPr>
            <a:r>
              <a:rPr b="1" i="0" lang="en-US" sz="1820" u="none" cap="none" strike="noStrike">
                <a:solidFill>
                  <a:srgbClr val="7E10FF"/>
                </a:solidFill>
                <a:latin typeface="Arial"/>
                <a:ea typeface="Arial"/>
                <a:cs typeface="Arial"/>
                <a:sym typeface="Arial"/>
              </a:rPr>
              <a:t>LFSR</a:t>
            </a:r>
            <a:endParaRPr b="0" i="0" sz="182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1" name="Google Shape;151;p8"/>
          <p:cNvSpPr/>
          <p:nvPr/>
        </p:nvSpPr>
        <p:spPr>
          <a:xfrm>
            <a:off x="841248" y="1664208"/>
            <a:ext cx="4818888" cy="135331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C3945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3C3945"/>
                </a:solidFill>
                <a:latin typeface="Arial"/>
                <a:ea typeface="Arial"/>
                <a:cs typeface="Arial"/>
                <a:sym typeface="Arial"/>
              </a:rPr>
              <a:t>Линейный регистр сдвига: следующее состояние строится из XOR выбранных битов и сдвига текущего регистра.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2" name="Google Shape;152;p8"/>
          <p:cNvSpPr/>
          <p:nvPr/>
        </p:nvSpPr>
        <p:spPr>
          <a:xfrm>
            <a:off x="6144768" y="1060704"/>
            <a:ext cx="5230368" cy="2084832"/>
          </a:xfrm>
          <a:prstGeom prst="rect">
            <a:avLst/>
          </a:prstGeom>
          <a:solidFill>
            <a:srgbClr val="F9F8FC"/>
          </a:solidFill>
          <a:ln cap="flat" cmpd="sng" w="9525">
            <a:solidFill>
              <a:srgbClr val="F9F8F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3" name="Google Shape;153;p8"/>
          <p:cNvSpPr/>
          <p:nvPr/>
        </p:nvSpPr>
        <p:spPr>
          <a:xfrm>
            <a:off x="6144768" y="1060704"/>
            <a:ext cx="73152" cy="2084832"/>
          </a:xfrm>
          <a:prstGeom prst="rect">
            <a:avLst/>
          </a:prstGeom>
          <a:solidFill>
            <a:srgbClr val="0069FF"/>
          </a:solidFill>
          <a:ln cap="flat" cmpd="sng" w="9525">
            <a:solidFill>
              <a:srgbClr val="0069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8"/>
          <p:cNvSpPr/>
          <p:nvPr/>
        </p:nvSpPr>
        <p:spPr>
          <a:xfrm>
            <a:off x="6345936" y="1225296"/>
            <a:ext cx="4846320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69FF"/>
              </a:buClr>
              <a:buSzPts val="1820"/>
              <a:buFont typeface="Arial"/>
              <a:buNone/>
            </a:pPr>
            <a:r>
              <a:rPr b="1" i="0" lang="en-US" sz="1820" u="none" cap="none" strike="noStrike">
                <a:solidFill>
                  <a:srgbClr val="0069FF"/>
                </a:solidFill>
                <a:latin typeface="Arial"/>
                <a:ea typeface="Arial"/>
                <a:cs typeface="Arial"/>
                <a:sym typeface="Arial"/>
              </a:rPr>
              <a:t>Свойство периода</a:t>
            </a:r>
            <a:endParaRPr b="0" i="0" sz="182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5" name="Google Shape;155;p8"/>
          <p:cNvSpPr/>
          <p:nvPr/>
        </p:nvSpPr>
        <p:spPr>
          <a:xfrm>
            <a:off x="6345936" y="1664208"/>
            <a:ext cx="4818888" cy="135331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C3945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3C3945"/>
                </a:solidFill>
                <a:latin typeface="Arial"/>
                <a:ea typeface="Arial"/>
                <a:cs typeface="Arial"/>
                <a:sym typeface="Arial"/>
              </a:rPr>
              <a:t>При примитивном полиноме и ненулевом seed проходит по 2^K </a:t>
            </a:r>
            <a:r>
              <a:rPr lang="en-US" sz="1800">
                <a:solidFill>
                  <a:srgbClr val="3C3945"/>
                </a:solidFill>
              </a:rPr>
              <a:t>-</a:t>
            </a:r>
            <a:r>
              <a:rPr b="0" i="0" lang="en-US" sz="1800" u="none" cap="none" strike="noStrike">
                <a:solidFill>
                  <a:srgbClr val="3C3945"/>
                </a:solidFill>
                <a:latin typeface="Arial"/>
                <a:ea typeface="Arial"/>
                <a:cs typeface="Arial"/>
                <a:sym typeface="Arial"/>
              </a:rPr>
              <a:t> 1 состояниям до повторения.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6" name="Google Shape;156;p8"/>
          <p:cNvSpPr/>
          <p:nvPr/>
        </p:nvSpPr>
        <p:spPr>
          <a:xfrm>
            <a:off x="713232" y="3502152"/>
            <a:ext cx="10753200" cy="1426500"/>
          </a:xfrm>
          <a:prstGeom prst="rect">
            <a:avLst/>
          </a:prstGeom>
          <a:solidFill>
            <a:srgbClr val="F1EAFF"/>
          </a:solidFill>
          <a:ln cap="flat" cmpd="sng" w="9525">
            <a:solidFill>
              <a:srgbClr val="F1EA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8"/>
          <p:cNvSpPr/>
          <p:nvPr/>
        </p:nvSpPr>
        <p:spPr>
          <a:xfrm>
            <a:off x="969264" y="3813048"/>
            <a:ext cx="1024128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7E10FF"/>
              </a:buClr>
              <a:buSzPts val="2450"/>
              <a:buFont typeface="Arial"/>
              <a:buNone/>
            </a:pPr>
            <a:r>
              <a:rPr b="1" i="0" lang="en-US" sz="2450" u="none" cap="none" strike="noStrike">
                <a:solidFill>
                  <a:srgbClr val="7E10FF"/>
                </a:solidFill>
                <a:latin typeface="Arial"/>
                <a:ea typeface="Arial"/>
                <a:cs typeface="Arial"/>
                <a:sym typeface="Arial"/>
              </a:rPr>
              <a:t>seed </a:t>
            </a:r>
            <a:r>
              <a:rPr b="1" lang="en-US" sz="2450">
                <a:solidFill>
                  <a:srgbClr val="7E10FF"/>
                </a:solidFill>
              </a:rPr>
              <a:t>&gt; </a:t>
            </a:r>
            <a:r>
              <a:rPr b="1" i="0" lang="en-US" sz="2450" u="none" cap="none" strike="noStrike">
                <a:solidFill>
                  <a:srgbClr val="7E10FF"/>
                </a:solidFill>
                <a:latin typeface="Arial"/>
                <a:ea typeface="Arial"/>
                <a:cs typeface="Arial"/>
                <a:sym typeface="Arial"/>
              </a:rPr>
              <a:t>[ </a:t>
            </a:r>
            <a:r>
              <a:rPr b="1" lang="en-US" sz="2450">
                <a:solidFill>
                  <a:srgbClr val="7E10FF"/>
                </a:solidFill>
              </a:rPr>
              <a:t>b2</a:t>
            </a:r>
            <a:r>
              <a:rPr b="1" i="0" lang="en-US" sz="2450" u="none" cap="none" strike="noStrike">
                <a:solidFill>
                  <a:srgbClr val="7E10FF"/>
                </a:solidFill>
                <a:latin typeface="Arial"/>
                <a:ea typeface="Arial"/>
                <a:cs typeface="Arial"/>
                <a:sym typeface="Arial"/>
              </a:rPr>
              <a:t> | </a:t>
            </a:r>
            <a:r>
              <a:rPr b="1" lang="en-US" sz="2450">
                <a:solidFill>
                  <a:srgbClr val="7E10FF"/>
                </a:solidFill>
              </a:rPr>
              <a:t>b1</a:t>
            </a:r>
            <a:r>
              <a:rPr b="1" i="0" lang="en-US" sz="2450" u="none" cap="none" strike="noStrike">
                <a:solidFill>
                  <a:srgbClr val="7E10FF"/>
                </a:solidFill>
                <a:latin typeface="Arial"/>
                <a:ea typeface="Arial"/>
                <a:cs typeface="Arial"/>
                <a:sym typeface="Arial"/>
              </a:rPr>
              <a:t> | </a:t>
            </a:r>
            <a:r>
              <a:rPr b="1" lang="en-US" sz="2450">
                <a:solidFill>
                  <a:srgbClr val="7E10FF"/>
                </a:solidFill>
              </a:rPr>
              <a:t>b0 </a:t>
            </a:r>
            <a:r>
              <a:rPr b="1" i="0" lang="en-US" sz="2450" u="none" cap="none" strike="noStrike">
                <a:solidFill>
                  <a:srgbClr val="7E10FF"/>
                </a:solidFill>
                <a:latin typeface="Arial"/>
                <a:ea typeface="Arial"/>
                <a:cs typeface="Arial"/>
                <a:sym typeface="Arial"/>
              </a:rPr>
              <a:t>] </a:t>
            </a:r>
            <a:r>
              <a:rPr b="1" lang="en-US" sz="2450">
                <a:solidFill>
                  <a:srgbClr val="7E10FF"/>
                </a:solidFill>
              </a:rPr>
              <a:t>&gt; </a:t>
            </a:r>
            <a:r>
              <a:rPr b="1" i="0" lang="en-US" sz="2450" u="none" cap="none" strike="noStrike">
                <a:solidFill>
                  <a:srgbClr val="7E10FF"/>
                </a:solidFill>
                <a:latin typeface="Arial"/>
                <a:ea typeface="Arial"/>
                <a:cs typeface="Arial"/>
                <a:sym typeface="Arial"/>
              </a:rPr>
              <a:t>XOR </a:t>
            </a:r>
            <a:r>
              <a:rPr b="1" lang="en-US" sz="2450">
                <a:solidFill>
                  <a:srgbClr val="7E10FF"/>
                </a:solidFill>
              </a:rPr>
              <a:t>&gt; </a:t>
            </a:r>
            <a:r>
              <a:rPr b="1" i="0" lang="en-US" sz="2450" u="none" cap="none" strike="noStrike">
                <a:solidFill>
                  <a:srgbClr val="7E10FF"/>
                </a:solidFill>
                <a:latin typeface="Arial"/>
                <a:ea typeface="Arial"/>
                <a:cs typeface="Arial"/>
                <a:sym typeface="Arial"/>
              </a:rPr>
              <a:t>сдвиг </a:t>
            </a:r>
            <a:r>
              <a:rPr b="1" lang="en-US" sz="2450">
                <a:solidFill>
                  <a:srgbClr val="7E10FF"/>
                </a:solidFill>
              </a:rPr>
              <a:t>&gt; </a:t>
            </a:r>
            <a:r>
              <a:rPr b="1" i="0" lang="en-US" sz="2450" u="none" cap="none" strike="noStrike">
                <a:solidFill>
                  <a:srgbClr val="7E10FF"/>
                </a:solidFill>
                <a:latin typeface="Arial"/>
                <a:ea typeface="Arial"/>
                <a:cs typeface="Arial"/>
                <a:sym typeface="Arial"/>
              </a:rPr>
              <a:t>новое состояние </a:t>
            </a:r>
            <a:r>
              <a:rPr b="1" lang="en-US" sz="2450">
                <a:solidFill>
                  <a:srgbClr val="7E10FF"/>
                </a:solidFill>
              </a:rPr>
              <a:t>&gt; </a:t>
            </a:r>
            <a:r>
              <a:rPr b="1" i="0" lang="en-US" sz="2450" u="none" cap="none" strike="noStrike">
                <a:solidFill>
                  <a:srgbClr val="7E10FF"/>
                </a:solidFill>
                <a:latin typeface="Arial"/>
                <a:ea typeface="Arial"/>
                <a:cs typeface="Arial"/>
                <a:sym typeface="Arial"/>
              </a:rPr>
              <a:t>…</a:t>
            </a:r>
            <a:endParaRPr b="0" i="0" sz="24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8" name="Google Shape;158;p8"/>
          <p:cNvSpPr/>
          <p:nvPr/>
        </p:nvSpPr>
        <p:spPr>
          <a:xfrm>
            <a:off x="795528" y="5202936"/>
            <a:ext cx="1051560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3C3945"/>
              </a:buClr>
              <a:buSzPts val="1900"/>
              <a:buFont typeface="Arial"/>
              <a:buNone/>
            </a:pPr>
            <a:r>
              <a:rPr b="0" i="0" lang="en-US" sz="1900" u="none" cap="none" strike="noStrike">
                <a:solidFill>
                  <a:srgbClr val="3C3945"/>
                </a:solidFill>
                <a:latin typeface="Arial"/>
                <a:ea typeface="Arial"/>
                <a:cs typeface="Arial"/>
                <a:sym typeface="Arial"/>
              </a:rPr>
              <a:t>Для K = 16:65 535 возможных ненулевых seed. Генерация детерминирована.</a:t>
            </a:r>
            <a:endParaRPr b="0" i="0" sz="1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9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7E10FF"/>
          </a:solidFill>
          <a:ln cap="flat" cmpd="sng" w="9525">
            <a:solidFill>
              <a:srgbClr val="7E1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9"/>
          <p:cNvSpPr/>
          <p:nvPr/>
        </p:nvSpPr>
        <p:spPr>
          <a:xfrm>
            <a:off x="502920" y="128016"/>
            <a:ext cx="10698480" cy="4297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50"/>
              <a:buFont typeface="Arial"/>
              <a:buNone/>
            </a:pPr>
            <a:r>
              <a:rPr b="1" i="0" lang="en-US" sz="22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3.2. Нормализация U(s) и ошибка восстановления</a:t>
            </a:r>
            <a:endParaRPr b="0" i="0" sz="22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6" name="Google Shape;166;p9"/>
          <p:cNvSpPr/>
          <p:nvPr/>
        </p:nvSpPr>
        <p:spPr>
          <a:xfrm>
            <a:off x="10698480" y="256032"/>
            <a:ext cx="978408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EBDAFF"/>
              </a:buClr>
              <a:buSzPts val="1080"/>
              <a:buFont typeface="Arial"/>
              <a:buNone/>
            </a:pPr>
            <a:r>
              <a:rPr b="1" lang="en-US" sz="1080">
                <a:solidFill>
                  <a:srgbClr val="EBDAFF"/>
                </a:solidFill>
              </a:rPr>
              <a:t>3</a:t>
            </a:r>
            <a:r>
              <a:rPr b="1" i="0" lang="en-US" sz="1080" u="none" cap="none" strike="noStrike">
                <a:solidFill>
                  <a:srgbClr val="EBDAFF"/>
                </a:solidFill>
                <a:latin typeface="Arial"/>
                <a:ea typeface="Arial"/>
                <a:cs typeface="Arial"/>
                <a:sym typeface="Arial"/>
              </a:rPr>
              <a:t>.2</a:t>
            </a:r>
            <a:endParaRPr b="0" i="0" sz="108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67" name="Google Shape;167;p9"/>
          <p:cNvCxnSpPr/>
          <p:nvPr/>
        </p:nvCxnSpPr>
        <p:spPr>
          <a:xfrm>
            <a:off x="502920" y="6510528"/>
            <a:ext cx="11183112" cy="0"/>
          </a:xfrm>
          <a:prstGeom prst="straightConnector1">
            <a:avLst/>
          </a:prstGeom>
          <a:noFill/>
          <a:ln cap="flat" cmpd="sng" w="10150">
            <a:solidFill>
              <a:srgbClr val="DAD6E2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8" name="Google Shape;168;p9"/>
          <p:cNvSpPr/>
          <p:nvPr/>
        </p:nvSpPr>
        <p:spPr>
          <a:xfrm>
            <a:off x="502920" y="6574536"/>
            <a:ext cx="9966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66273"/>
              </a:buClr>
              <a:buSzPts val="1020"/>
              <a:buFont typeface="Arial"/>
              <a:buNone/>
            </a:pPr>
            <a:r>
              <a:rPr b="0" i="0" lang="en-US" sz="1020" u="none" cap="none" strike="noStrike">
                <a:solidFill>
                  <a:srgbClr val="666273"/>
                </a:solidFill>
                <a:latin typeface="Arial"/>
                <a:ea typeface="Arial"/>
                <a:cs typeface="Arial"/>
                <a:sym typeface="Arial"/>
              </a:rPr>
              <a:t>Источник: статья, с. 5</a:t>
            </a:r>
            <a:r>
              <a:rPr lang="en-US" sz="1020">
                <a:solidFill>
                  <a:srgbClr val="666273"/>
                </a:solidFill>
              </a:rPr>
              <a:t>, параграф </a:t>
            </a:r>
            <a:r>
              <a:rPr b="0" i="0" lang="en-US" sz="1020" u="none" cap="none" strike="noStrike">
                <a:solidFill>
                  <a:srgbClr val="666273"/>
                </a:solidFill>
                <a:latin typeface="Arial"/>
                <a:ea typeface="Arial"/>
                <a:cs typeface="Arial"/>
                <a:sym typeface="Arial"/>
              </a:rPr>
              <a:t>3.2, формулы (1)</a:t>
            </a:r>
            <a:r>
              <a:rPr lang="en-US" sz="1020">
                <a:solidFill>
                  <a:srgbClr val="666273"/>
                </a:solidFill>
              </a:rPr>
              <a:t>-</a:t>
            </a:r>
            <a:r>
              <a:rPr b="0" i="0" lang="en-US" sz="1020" u="none" cap="none" strike="noStrike">
                <a:solidFill>
                  <a:srgbClr val="666273"/>
                </a:solidFill>
                <a:latin typeface="Arial"/>
                <a:ea typeface="Arial"/>
                <a:cs typeface="Arial"/>
                <a:sym typeface="Arial"/>
              </a:rPr>
              <a:t>(2)</a:t>
            </a:r>
            <a:endParaRPr b="0" i="0" sz="102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9" name="Google Shape;169;p9"/>
          <p:cNvSpPr/>
          <p:nvPr/>
        </p:nvSpPr>
        <p:spPr>
          <a:xfrm>
            <a:off x="11109960" y="6565392"/>
            <a:ext cx="566928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7E10FF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7E10FF"/>
                </a:solidFill>
                <a:latin typeface="Arial"/>
                <a:ea typeface="Arial"/>
                <a:cs typeface="Arial"/>
                <a:sym typeface="Arial"/>
              </a:rPr>
              <a:t>7/19</a:t>
            </a:r>
            <a:endParaRPr b="0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0" name="Google Shape;170;p9"/>
          <p:cNvSpPr/>
          <p:nvPr/>
        </p:nvSpPr>
        <p:spPr>
          <a:xfrm>
            <a:off x="1005840" y="2880360"/>
            <a:ext cx="996696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131A"/>
              </a:buClr>
              <a:buSzPts val="2000"/>
              <a:buFont typeface="Arial"/>
              <a:buNone/>
            </a:pPr>
            <a:r>
              <a:rPr b="0" i="0" lang="en-US" sz="2000" u="none" cap="none" strike="noStrike">
                <a:solidFill>
                  <a:srgbClr val="14131A"/>
                </a:solidFill>
                <a:latin typeface="Arial"/>
                <a:ea typeface="Arial"/>
                <a:cs typeface="Arial"/>
                <a:sym typeface="Arial"/>
              </a:rPr>
              <a:t>1. LFSR создаёт целочисленную матрицу V(s).</a:t>
            </a:r>
            <a:endParaRPr b="0" i="0" sz="2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1" name="Google Shape;171;p9"/>
          <p:cNvSpPr/>
          <p:nvPr/>
        </p:nvSpPr>
        <p:spPr>
          <a:xfrm>
            <a:off x="1005840" y="3547872"/>
            <a:ext cx="10058400" cy="557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131A"/>
              </a:buClr>
              <a:buSzPts val="2000"/>
              <a:buFont typeface="Arial"/>
              <a:buNone/>
            </a:pPr>
            <a:r>
              <a:rPr b="0" i="0" lang="en-US" sz="2000" u="none" cap="none" strike="noStrike">
                <a:solidFill>
                  <a:srgbClr val="14131A"/>
                </a:solidFill>
                <a:latin typeface="Arial"/>
                <a:ea typeface="Arial"/>
                <a:cs typeface="Arial"/>
                <a:sym typeface="Arial"/>
              </a:rPr>
              <a:t>2. Нормализация переносит значения в диапазон примерно [</a:t>
            </a:r>
            <a:r>
              <a:rPr lang="en-US" sz="2000">
                <a:solidFill>
                  <a:srgbClr val="14131A"/>
                </a:solidFill>
              </a:rPr>
              <a:t>-</a:t>
            </a:r>
            <a:r>
              <a:rPr b="0" i="0" lang="en-US" sz="2000" u="none" cap="none" strike="noStrike">
                <a:solidFill>
                  <a:srgbClr val="14131A"/>
                </a:solidFill>
                <a:latin typeface="Arial"/>
                <a:ea typeface="Arial"/>
                <a:cs typeface="Arial"/>
                <a:sym typeface="Arial"/>
              </a:rPr>
              <a:t>1, 1].</a:t>
            </a:r>
            <a:endParaRPr b="0" i="0" sz="2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2" name="Google Shape;172;p9"/>
          <p:cNvSpPr/>
          <p:nvPr/>
        </p:nvSpPr>
        <p:spPr>
          <a:xfrm>
            <a:off x="1005840" y="4343400"/>
            <a:ext cx="9875520" cy="49377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131A"/>
              </a:buClr>
              <a:buSzPts val="2000"/>
              <a:buFont typeface="Arial"/>
              <a:buNone/>
            </a:pPr>
            <a:r>
              <a:rPr b="0" i="0" lang="en-US" sz="2000" u="none" cap="none" strike="noStrike">
                <a:solidFill>
                  <a:srgbClr val="14131A"/>
                </a:solidFill>
                <a:latin typeface="Arial"/>
                <a:ea typeface="Arial"/>
                <a:cs typeface="Arial"/>
                <a:sym typeface="Arial"/>
              </a:rPr>
              <a:t>3. Цель </a:t>
            </a:r>
            <a:r>
              <a:rPr lang="en-US" sz="2000">
                <a:solidFill>
                  <a:srgbClr val="14131A"/>
                </a:solidFill>
              </a:rPr>
              <a:t>- </a:t>
            </a:r>
            <a:r>
              <a:rPr b="0" i="0" lang="en-US" sz="2000" u="none" cap="none" strike="noStrike">
                <a:solidFill>
                  <a:srgbClr val="14131A"/>
                </a:solidFill>
                <a:latin typeface="Arial"/>
                <a:ea typeface="Arial"/>
                <a:cs typeface="Arial"/>
                <a:sym typeface="Arial"/>
              </a:rPr>
              <a:t>минимизировать ||w − U(s)t|| </a:t>
            </a:r>
            <a:r>
              <a:rPr lang="en-US" sz="2000">
                <a:solidFill>
                  <a:srgbClr val="14131A"/>
                </a:solidFill>
              </a:rPr>
              <a:t>^ 2</a:t>
            </a:r>
            <a:r>
              <a:rPr b="0" i="0" lang="en-US" sz="2000" u="none" cap="none" strike="noStrike">
                <a:solidFill>
                  <a:srgbClr val="14131A"/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  <a:endParaRPr b="0" i="0" sz="2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3" name="Google Shape;173;p9"/>
          <p:cNvSpPr/>
          <p:nvPr/>
        </p:nvSpPr>
        <p:spPr>
          <a:xfrm>
            <a:off x="923544" y="5266944"/>
            <a:ext cx="10332720" cy="603504"/>
          </a:xfrm>
          <a:prstGeom prst="rect">
            <a:avLst/>
          </a:prstGeom>
          <a:solidFill>
            <a:srgbClr val="EFF5FF"/>
          </a:solidFill>
          <a:ln cap="flat" cmpd="sng" w="9525">
            <a:solidFill>
              <a:srgbClr val="EFF5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9"/>
          <p:cNvSpPr/>
          <p:nvPr/>
        </p:nvSpPr>
        <p:spPr>
          <a:xfrm>
            <a:off x="1088136" y="5394960"/>
            <a:ext cx="10012680" cy="30175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69FF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0069FF"/>
                </a:solidFill>
                <a:latin typeface="Arial"/>
                <a:ea typeface="Arial"/>
                <a:cs typeface="Arial"/>
                <a:sym typeface="Arial"/>
              </a:rPr>
              <a:t>Подсчет вручную: выбрать K = 3, seed = 4 и построить маленькую U(s).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75" name="Google Shape;175;p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998750" y="1346090"/>
            <a:ext cx="3823659" cy="8252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0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7E10FF"/>
          </a:solidFill>
          <a:ln cap="flat" cmpd="sng" w="9525">
            <a:solidFill>
              <a:srgbClr val="7E1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0"/>
          <p:cNvSpPr/>
          <p:nvPr/>
        </p:nvSpPr>
        <p:spPr>
          <a:xfrm>
            <a:off x="502920" y="128016"/>
            <a:ext cx="10698480" cy="4297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50"/>
              <a:buFont typeface="Arial"/>
              <a:buNone/>
            </a:pPr>
            <a:r>
              <a:rPr b="1" i="0" lang="en-US" sz="22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3.2. Квантование коэффициентов</a:t>
            </a:r>
            <a:endParaRPr b="0" i="0" sz="22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3" name="Google Shape;183;p10"/>
          <p:cNvSpPr/>
          <p:nvPr/>
        </p:nvSpPr>
        <p:spPr>
          <a:xfrm>
            <a:off x="10698480" y="256032"/>
            <a:ext cx="978408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EBDAFF"/>
              </a:buClr>
              <a:buSzPts val="1080"/>
              <a:buFont typeface="Arial"/>
              <a:buNone/>
            </a:pPr>
            <a:r>
              <a:rPr b="1" i="0" lang="en-US" sz="1080" u="none" cap="none" strike="noStrike">
                <a:solidFill>
                  <a:srgbClr val="EBDAFF"/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  <a:endParaRPr b="0" i="0" sz="108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84" name="Google Shape;184;p10"/>
          <p:cNvCxnSpPr/>
          <p:nvPr/>
        </p:nvCxnSpPr>
        <p:spPr>
          <a:xfrm>
            <a:off x="502920" y="6510528"/>
            <a:ext cx="11183112" cy="0"/>
          </a:xfrm>
          <a:prstGeom prst="straightConnector1">
            <a:avLst/>
          </a:prstGeom>
          <a:noFill/>
          <a:ln cap="flat" cmpd="sng" w="10150">
            <a:solidFill>
              <a:srgbClr val="DAD6E2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85" name="Google Shape;185;p10"/>
          <p:cNvSpPr/>
          <p:nvPr/>
        </p:nvSpPr>
        <p:spPr>
          <a:xfrm>
            <a:off x="502920" y="6574536"/>
            <a:ext cx="9966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66273"/>
              </a:buClr>
              <a:buSzPts val="1020"/>
              <a:buFont typeface="Arial"/>
              <a:buNone/>
            </a:pPr>
            <a:r>
              <a:rPr b="0" i="0" lang="en-US" sz="1020" u="none" cap="none" strike="noStrike">
                <a:solidFill>
                  <a:srgbClr val="666273"/>
                </a:solidFill>
                <a:latin typeface="Arial"/>
                <a:ea typeface="Arial"/>
                <a:cs typeface="Arial"/>
                <a:sym typeface="Arial"/>
              </a:rPr>
              <a:t>Источник: статья, с. 5</a:t>
            </a:r>
            <a:r>
              <a:rPr lang="en-US" sz="1020">
                <a:solidFill>
                  <a:srgbClr val="666273"/>
                </a:solidFill>
              </a:rPr>
              <a:t>, параграф </a:t>
            </a:r>
            <a:r>
              <a:rPr b="0" i="0" lang="en-US" sz="1020" u="none" cap="none" strike="noStrike">
                <a:solidFill>
                  <a:srgbClr val="666273"/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  <a:endParaRPr b="0" i="0" sz="102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6" name="Google Shape;186;p10"/>
          <p:cNvSpPr/>
          <p:nvPr/>
        </p:nvSpPr>
        <p:spPr>
          <a:xfrm>
            <a:off x="11109960" y="6565392"/>
            <a:ext cx="566928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7E10FF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7E10FF"/>
                </a:solidFill>
                <a:latin typeface="Arial"/>
                <a:ea typeface="Arial"/>
                <a:cs typeface="Arial"/>
                <a:sym typeface="Arial"/>
              </a:rPr>
              <a:t>8/19</a:t>
            </a:r>
            <a:endParaRPr b="0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7" name="Google Shape;187;p10"/>
          <p:cNvSpPr/>
          <p:nvPr/>
        </p:nvSpPr>
        <p:spPr>
          <a:xfrm>
            <a:off x="745240" y="1819642"/>
            <a:ext cx="10698600" cy="1051500"/>
          </a:xfrm>
          <a:prstGeom prst="rect">
            <a:avLst/>
          </a:prstGeom>
          <a:solidFill>
            <a:srgbClr val="EFF2FA"/>
          </a:solidFill>
          <a:ln cap="flat" cmpd="sng" w="9525">
            <a:solidFill>
              <a:srgbClr val="EFF2F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0"/>
          <p:cNvSpPr/>
          <p:nvPr/>
        </p:nvSpPr>
        <p:spPr>
          <a:xfrm>
            <a:off x="745240" y="1819642"/>
            <a:ext cx="100500" cy="1051500"/>
          </a:xfrm>
          <a:prstGeom prst="rect">
            <a:avLst/>
          </a:prstGeom>
          <a:solidFill>
            <a:srgbClr val="7E10FF"/>
          </a:solidFill>
          <a:ln cap="flat" cmpd="sng" w="9525">
            <a:solidFill>
              <a:srgbClr val="7E1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0"/>
          <p:cNvSpPr/>
          <p:nvPr/>
        </p:nvSpPr>
        <p:spPr>
          <a:xfrm>
            <a:off x="992128" y="2002522"/>
            <a:ext cx="1965900" cy="47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E10FF"/>
              </a:buClr>
              <a:buSzPts val="2400"/>
              <a:buFont typeface="Arial"/>
              <a:buNone/>
            </a:pPr>
            <a:r>
              <a:rPr b="1" i="0" lang="en-US" sz="2400" u="none" cap="none" strike="noStrike">
                <a:solidFill>
                  <a:srgbClr val="7E10FF"/>
                </a:solidFill>
                <a:latin typeface="Arial"/>
                <a:ea typeface="Arial"/>
                <a:cs typeface="Arial"/>
                <a:sym typeface="Arial"/>
              </a:rPr>
              <a:t>4 бита</a:t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0" name="Google Shape;190;p10"/>
          <p:cNvSpPr/>
          <p:nvPr/>
        </p:nvSpPr>
        <p:spPr>
          <a:xfrm>
            <a:off x="2884935" y="1965946"/>
            <a:ext cx="8275200" cy="65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C3945"/>
              </a:buClr>
              <a:buSzPts val="2020"/>
              <a:buFont typeface="Arial"/>
              <a:buNone/>
            </a:pPr>
            <a:r>
              <a:rPr b="0" i="0" lang="en-US" sz="2020" u="none" cap="none" strike="noStrike">
                <a:solidFill>
                  <a:srgbClr val="3C3945"/>
                </a:solidFill>
                <a:latin typeface="Arial"/>
                <a:ea typeface="Arial"/>
                <a:cs typeface="Arial"/>
                <a:sym typeface="Arial"/>
              </a:rPr>
              <a:t>Каждый коэффициент </a:t>
            </a:r>
            <a:r>
              <a:rPr lang="en-US" sz="2020">
                <a:solidFill>
                  <a:srgbClr val="3C3945"/>
                </a:solidFill>
              </a:rPr>
              <a:t>q</a:t>
            </a:r>
            <a:r>
              <a:rPr lang="en-US" sz="1320">
                <a:solidFill>
                  <a:srgbClr val="3C3945"/>
                </a:solidFill>
              </a:rPr>
              <a:t>i</a:t>
            </a:r>
            <a:r>
              <a:rPr b="0" i="0" lang="en-US" sz="2020" u="none" cap="none" strike="noStrike">
                <a:solidFill>
                  <a:srgbClr val="3C3945"/>
                </a:solidFill>
                <a:latin typeface="Arial"/>
                <a:ea typeface="Arial"/>
                <a:cs typeface="Arial"/>
                <a:sym typeface="Arial"/>
              </a:rPr>
              <a:t> хранится как целое со знаком (two’s complement).</a:t>
            </a:r>
            <a:endParaRPr b="0" i="0" sz="202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1" name="Google Shape;191;p10"/>
          <p:cNvSpPr/>
          <p:nvPr/>
        </p:nvSpPr>
        <p:spPr>
          <a:xfrm>
            <a:off x="745240" y="3118090"/>
            <a:ext cx="10698600" cy="1051500"/>
          </a:xfrm>
          <a:prstGeom prst="rect">
            <a:avLst/>
          </a:prstGeom>
          <a:solidFill>
            <a:srgbClr val="F6F2FC"/>
          </a:solidFill>
          <a:ln cap="flat" cmpd="sng" w="9525">
            <a:solidFill>
              <a:srgbClr val="F6F2F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2" name="Google Shape;192;p10"/>
          <p:cNvSpPr/>
          <p:nvPr/>
        </p:nvSpPr>
        <p:spPr>
          <a:xfrm>
            <a:off x="745240" y="3118090"/>
            <a:ext cx="100500" cy="1051500"/>
          </a:xfrm>
          <a:prstGeom prst="rect">
            <a:avLst/>
          </a:prstGeom>
          <a:solidFill>
            <a:srgbClr val="7E10FF"/>
          </a:solidFill>
          <a:ln cap="flat" cmpd="sng" w="9525">
            <a:solidFill>
              <a:srgbClr val="7E1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3" name="Google Shape;193;p10"/>
          <p:cNvSpPr/>
          <p:nvPr/>
        </p:nvSpPr>
        <p:spPr>
          <a:xfrm>
            <a:off x="992128" y="3300970"/>
            <a:ext cx="1965900" cy="47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E10FF"/>
              </a:buClr>
              <a:buSzPts val="2400"/>
              <a:buFont typeface="Arial"/>
              <a:buNone/>
            </a:pPr>
            <a:r>
              <a:rPr b="1" i="0" lang="en-US" sz="2400" u="none" cap="none" strike="noStrike">
                <a:solidFill>
                  <a:srgbClr val="7E10FF"/>
                </a:solidFill>
                <a:latin typeface="Arial"/>
                <a:ea typeface="Arial"/>
                <a:cs typeface="Arial"/>
                <a:sym typeface="Arial"/>
              </a:rPr>
              <a:t>4 бита</a:t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10"/>
          <p:cNvSpPr/>
          <p:nvPr/>
        </p:nvSpPr>
        <p:spPr>
          <a:xfrm>
            <a:off x="2884935" y="3264394"/>
            <a:ext cx="8275200" cy="65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C3945"/>
              </a:buClr>
              <a:buSzPts val="2020"/>
              <a:buFont typeface="Arial"/>
              <a:buNone/>
            </a:pPr>
            <a:r>
              <a:rPr b="0" i="0" lang="en-US" sz="2020" u="none" cap="none" strike="noStrike">
                <a:solidFill>
                  <a:srgbClr val="3C3945"/>
                </a:solidFill>
                <a:latin typeface="Arial"/>
                <a:ea typeface="Arial"/>
                <a:cs typeface="Arial"/>
                <a:sym typeface="Arial"/>
              </a:rPr>
              <a:t>Общий показатель степени e хранится один раз на блок.</a:t>
            </a:r>
            <a:endParaRPr b="0" i="0" sz="202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10"/>
          <p:cNvSpPr/>
          <p:nvPr/>
        </p:nvSpPr>
        <p:spPr>
          <a:xfrm>
            <a:off x="745240" y="4416538"/>
            <a:ext cx="10698600" cy="1051500"/>
          </a:xfrm>
          <a:prstGeom prst="rect">
            <a:avLst/>
          </a:prstGeom>
          <a:solidFill>
            <a:srgbClr val="EFF2FA"/>
          </a:solidFill>
          <a:ln cap="flat" cmpd="sng" w="9525">
            <a:solidFill>
              <a:srgbClr val="EFF2F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0"/>
          <p:cNvSpPr/>
          <p:nvPr/>
        </p:nvSpPr>
        <p:spPr>
          <a:xfrm>
            <a:off x="745240" y="4416538"/>
            <a:ext cx="100500" cy="1051500"/>
          </a:xfrm>
          <a:prstGeom prst="rect">
            <a:avLst/>
          </a:prstGeom>
          <a:solidFill>
            <a:srgbClr val="F93F41"/>
          </a:solidFill>
          <a:ln cap="flat" cmpd="sng" w="9525">
            <a:solidFill>
              <a:srgbClr val="F93F4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7" name="Google Shape;197;p10"/>
          <p:cNvSpPr/>
          <p:nvPr/>
        </p:nvSpPr>
        <p:spPr>
          <a:xfrm>
            <a:off x="992128" y="4599418"/>
            <a:ext cx="1965900" cy="47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E10FF"/>
              </a:buClr>
              <a:buSzPts val="2400"/>
              <a:buFont typeface="Arial"/>
              <a:buNone/>
            </a:pPr>
            <a:r>
              <a:rPr b="1" i="0" lang="en-US" sz="2400" u="none" cap="none" strike="noStrike">
                <a:solidFill>
                  <a:srgbClr val="7E10FF"/>
                </a:solidFill>
                <a:latin typeface="Arial"/>
                <a:ea typeface="Arial"/>
                <a:cs typeface="Arial"/>
                <a:sym typeface="Arial"/>
              </a:rPr>
              <a:t>Формула</a:t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8" name="Google Shape;198;p10"/>
          <p:cNvSpPr/>
          <p:nvPr/>
        </p:nvSpPr>
        <p:spPr>
          <a:xfrm>
            <a:off x="2884935" y="4562842"/>
            <a:ext cx="8275200" cy="65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C3945"/>
              </a:buClr>
              <a:buSzPts val="2020"/>
              <a:buFont typeface="Arial"/>
              <a:buNone/>
            </a:pPr>
            <a:r>
              <a:rPr b="0" i="0" lang="en-US" sz="2020" u="none" cap="none" strike="noStrike">
                <a:solidFill>
                  <a:srgbClr val="3C3945"/>
                </a:solidFill>
                <a:latin typeface="Arial"/>
                <a:ea typeface="Arial"/>
                <a:cs typeface="Arial"/>
                <a:sym typeface="Arial"/>
              </a:rPr>
              <a:t>t</a:t>
            </a:r>
            <a:r>
              <a:rPr lang="en-US" sz="1320">
                <a:solidFill>
                  <a:srgbClr val="3C3945"/>
                </a:solidFill>
              </a:rPr>
              <a:t>i</a:t>
            </a:r>
            <a:r>
              <a:rPr b="0" i="0" lang="en-US" sz="2020" u="none" cap="none" strike="noStrike">
                <a:solidFill>
                  <a:srgbClr val="3C3945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2020">
                <a:solidFill>
                  <a:srgbClr val="3C3945"/>
                </a:solidFill>
              </a:rPr>
              <a:t>~=</a:t>
            </a:r>
            <a:r>
              <a:rPr b="0" i="0" lang="en-US" sz="2020" u="none" cap="none" strike="noStrike">
                <a:solidFill>
                  <a:srgbClr val="3C3945"/>
                </a:solidFill>
                <a:latin typeface="Arial"/>
                <a:ea typeface="Arial"/>
                <a:cs typeface="Arial"/>
                <a:sym typeface="Arial"/>
              </a:rPr>
              <a:t> q</a:t>
            </a:r>
            <a:r>
              <a:rPr lang="en-US" sz="1320">
                <a:solidFill>
                  <a:srgbClr val="3C3945"/>
                </a:solidFill>
              </a:rPr>
              <a:t>i</a:t>
            </a:r>
            <a:r>
              <a:rPr b="0" i="0" lang="en-US" sz="2020" u="none" cap="none" strike="noStrike">
                <a:solidFill>
                  <a:srgbClr val="3C3945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2020">
                <a:solidFill>
                  <a:srgbClr val="3C3945"/>
                </a:solidFill>
              </a:rPr>
              <a:t>*</a:t>
            </a:r>
            <a:r>
              <a:rPr b="0" i="0" lang="en-US" sz="2020" u="none" cap="none" strike="noStrike">
                <a:solidFill>
                  <a:srgbClr val="3C3945"/>
                </a:solidFill>
                <a:latin typeface="Arial"/>
                <a:ea typeface="Arial"/>
                <a:cs typeface="Arial"/>
                <a:sym typeface="Arial"/>
              </a:rPr>
              <a:t> 2</a:t>
            </a:r>
            <a:r>
              <a:rPr lang="en-US" sz="2020">
                <a:solidFill>
                  <a:srgbClr val="3C3945"/>
                </a:solidFill>
              </a:rPr>
              <a:t> ^ e</a:t>
            </a:r>
            <a:r>
              <a:rPr b="0" i="0" lang="en-US" sz="2020" u="none" cap="none" strike="noStrike">
                <a:solidFill>
                  <a:srgbClr val="3C3945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2020">
                <a:solidFill>
                  <a:srgbClr val="3C3945"/>
                </a:solidFill>
              </a:rPr>
              <a:t>- </a:t>
            </a:r>
            <a:r>
              <a:rPr b="0" i="0" lang="en-US" sz="2020" u="none" cap="none" strike="noStrike">
                <a:solidFill>
                  <a:srgbClr val="3C3945"/>
                </a:solidFill>
                <a:latin typeface="Arial"/>
                <a:ea typeface="Arial"/>
                <a:cs typeface="Arial"/>
                <a:sym typeface="Arial"/>
              </a:rPr>
              <a:t>аппаратно удобное восстановление сдвигом.</a:t>
            </a:r>
            <a:endParaRPr b="0" i="0" sz="202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p1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7E10FF"/>
          </a:solidFill>
          <a:ln cap="flat" cmpd="sng" w="9525">
            <a:solidFill>
              <a:srgbClr val="7E1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5" name="Google Shape;205;p11"/>
          <p:cNvSpPr/>
          <p:nvPr/>
        </p:nvSpPr>
        <p:spPr>
          <a:xfrm>
            <a:off x="502920" y="128016"/>
            <a:ext cx="10698480" cy="4297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50"/>
              <a:buFont typeface="Arial"/>
              <a:buNone/>
            </a:pPr>
            <a:r>
              <a:rPr b="1" i="0" lang="en-US" sz="22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3.3. Как SeedLM выбирает seed</a:t>
            </a:r>
            <a:endParaRPr b="0" i="0" sz="22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6" name="Google Shape;206;p11"/>
          <p:cNvSpPr/>
          <p:nvPr/>
        </p:nvSpPr>
        <p:spPr>
          <a:xfrm>
            <a:off x="10698480" y="256032"/>
            <a:ext cx="978408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EBDAFF"/>
              </a:buClr>
              <a:buSzPts val="1080"/>
              <a:buFont typeface="Arial"/>
              <a:buNone/>
            </a:pPr>
            <a:r>
              <a:rPr b="1" i="0" lang="en-US" sz="1080" u="none" cap="none" strike="noStrike">
                <a:solidFill>
                  <a:srgbClr val="EBDAFF"/>
                </a:solidFill>
                <a:latin typeface="Arial"/>
                <a:ea typeface="Arial"/>
                <a:cs typeface="Arial"/>
                <a:sym typeface="Arial"/>
              </a:rPr>
              <a:t>3.3</a:t>
            </a:r>
            <a:endParaRPr b="0" i="0" sz="108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207" name="Google Shape;207;p11"/>
          <p:cNvCxnSpPr/>
          <p:nvPr/>
        </p:nvCxnSpPr>
        <p:spPr>
          <a:xfrm>
            <a:off x="502920" y="6510528"/>
            <a:ext cx="11183112" cy="0"/>
          </a:xfrm>
          <a:prstGeom prst="straightConnector1">
            <a:avLst/>
          </a:prstGeom>
          <a:noFill/>
          <a:ln cap="flat" cmpd="sng" w="10150">
            <a:solidFill>
              <a:srgbClr val="DAD6E2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08" name="Google Shape;208;p11"/>
          <p:cNvSpPr/>
          <p:nvPr/>
        </p:nvSpPr>
        <p:spPr>
          <a:xfrm>
            <a:off x="502920" y="6574536"/>
            <a:ext cx="9966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66273"/>
              </a:buClr>
              <a:buSzPts val="1020"/>
              <a:buFont typeface="Arial"/>
              <a:buNone/>
            </a:pPr>
            <a:r>
              <a:rPr b="0" i="0" lang="en-US" sz="1020" u="none" cap="none" strike="noStrike">
                <a:solidFill>
                  <a:srgbClr val="666273"/>
                </a:solidFill>
                <a:latin typeface="Arial"/>
                <a:ea typeface="Arial"/>
                <a:cs typeface="Arial"/>
                <a:sym typeface="Arial"/>
              </a:rPr>
              <a:t>Источник: статья, с. 5</a:t>
            </a:r>
            <a:r>
              <a:rPr lang="en-US" sz="1020">
                <a:solidFill>
                  <a:srgbClr val="666273"/>
                </a:solidFill>
              </a:rPr>
              <a:t>-</a:t>
            </a:r>
            <a:r>
              <a:rPr b="0" i="0" lang="en-US" sz="1020" u="none" cap="none" strike="noStrike">
                <a:solidFill>
                  <a:srgbClr val="666273"/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  <a:r>
              <a:rPr lang="en-US" sz="1020">
                <a:solidFill>
                  <a:srgbClr val="666273"/>
                </a:solidFill>
              </a:rPr>
              <a:t>, параграф </a:t>
            </a:r>
            <a:r>
              <a:rPr b="0" i="0" lang="en-US" sz="1020" u="none" cap="none" strike="noStrike">
                <a:solidFill>
                  <a:srgbClr val="666273"/>
                </a:solidFill>
                <a:latin typeface="Arial"/>
                <a:ea typeface="Arial"/>
                <a:cs typeface="Arial"/>
                <a:sym typeface="Arial"/>
              </a:rPr>
              <a:t>3.3, алгоритм 1</a:t>
            </a:r>
            <a:endParaRPr b="0" i="0" sz="102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9" name="Google Shape;209;p11"/>
          <p:cNvSpPr/>
          <p:nvPr/>
        </p:nvSpPr>
        <p:spPr>
          <a:xfrm>
            <a:off x="11109960" y="6565392"/>
            <a:ext cx="566928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7E10FF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7E10FF"/>
                </a:solidFill>
                <a:latin typeface="Arial"/>
                <a:ea typeface="Arial"/>
                <a:cs typeface="Arial"/>
                <a:sym typeface="Arial"/>
              </a:rPr>
              <a:t>9/19</a:t>
            </a:r>
            <a:endParaRPr b="0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0" name="Google Shape;210;p11"/>
          <p:cNvSpPr/>
          <p:nvPr/>
        </p:nvSpPr>
        <p:spPr>
          <a:xfrm>
            <a:off x="457200" y="1655064"/>
            <a:ext cx="2185416" cy="2221992"/>
          </a:xfrm>
          <a:prstGeom prst="rect">
            <a:avLst/>
          </a:prstGeom>
          <a:solidFill>
            <a:srgbClr val="EDE9FB"/>
          </a:solidFill>
          <a:ln cap="flat" cmpd="sng" w="9525">
            <a:solidFill>
              <a:srgbClr val="EDE9F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1" name="Google Shape;211;p11"/>
          <p:cNvSpPr/>
          <p:nvPr/>
        </p:nvSpPr>
        <p:spPr>
          <a:xfrm>
            <a:off x="1216152" y="1819656"/>
            <a:ext cx="658368" cy="658368"/>
          </a:xfrm>
          <a:prstGeom prst="rect">
            <a:avLst/>
          </a:prstGeom>
          <a:solidFill>
            <a:srgbClr val="7E10FF"/>
          </a:solidFill>
          <a:ln cap="flat" cmpd="sng" w="9525">
            <a:solidFill>
              <a:srgbClr val="7E1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1"/>
          <p:cNvSpPr/>
          <p:nvPr/>
        </p:nvSpPr>
        <p:spPr>
          <a:xfrm>
            <a:off x="1216152" y="1920240"/>
            <a:ext cx="658368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900"/>
              <a:buFont typeface="Arial"/>
              <a:buNone/>
            </a:pPr>
            <a:r>
              <a:rPr b="1" i="0" lang="en-US" sz="1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  <a:endParaRPr b="0" i="0" sz="1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3" name="Google Shape;213;p11"/>
          <p:cNvSpPr/>
          <p:nvPr/>
        </p:nvSpPr>
        <p:spPr>
          <a:xfrm>
            <a:off x="621792" y="2679192"/>
            <a:ext cx="1865376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4131A"/>
              </a:buClr>
              <a:buSzPts val="1650"/>
              <a:buFont typeface="Arial"/>
              <a:buNone/>
            </a:pPr>
            <a:r>
              <a:rPr b="1" i="0" lang="en-US" sz="1650" u="none" cap="none" strike="noStrike">
                <a:solidFill>
                  <a:srgbClr val="14131A"/>
                </a:solidFill>
                <a:latin typeface="Arial"/>
                <a:ea typeface="Arial"/>
                <a:cs typeface="Arial"/>
                <a:sym typeface="Arial"/>
              </a:rPr>
              <a:t>Перебрать seed</a:t>
            </a:r>
            <a:endParaRPr b="0" i="0" sz="16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4" name="Google Shape;214;p11"/>
          <p:cNvSpPr/>
          <p:nvPr/>
        </p:nvSpPr>
        <p:spPr>
          <a:xfrm>
            <a:off x="594360" y="3246120"/>
            <a:ext cx="1901952" cy="3749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66273"/>
              </a:buClr>
              <a:buSzPts val="1330"/>
              <a:buFont typeface="Arial"/>
              <a:buNone/>
            </a:pPr>
            <a:r>
              <a:rPr b="0" i="0" lang="en-US" sz="1330" u="none" cap="none" strike="noStrike">
                <a:solidFill>
                  <a:srgbClr val="666273"/>
                </a:solidFill>
                <a:latin typeface="Arial"/>
                <a:ea typeface="Arial"/>
                <a:cs typeface="Arial"/>
                <a:sym typeface="Arial"/>
              </a:rPr>
              <a:t>s = 1 … 2^K−1</a:t>
            </a:r>
            <a:endParaRPr b="0" i="0" sz="133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5" name="Google Shape;215;p11"/>
          <p:cNvSpPr/>
          <p:nvPr/>
        </p:nvSpPr>
        <p:spPr>
          <a:xfrm>
            <a:off x="2624413" y="2505450"/>
            <a:ext cx="2193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7E10FF"/>
              </a:buClr>
              <a:buSzPts val="1800"/>
              <a:buFont typeface="Arial"/>
              <a:buNone/>
            </a:pPr>
            <a:r>
              <a:rPr b="1" lang="en-US" sz="1800">
                <a:solidFill>
                  <a:srgbClr val="7E10FF"/>
                </a:solidFill>
              </a:rPr>
              <a:t>&gt;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6" name="Google Shape;216;p11"/>
          <p:cNvSpPr/>
          <p:nvPr/>
        </p:nvSpPr>
        <p:spPr>
          <a:xfrm>
            <a:off x="2816352" y="1655064"/>
            <a:ext cx="2185416" cy="2221992"/>
          </a:xfrm>
          <a:prstGeom prst="rect">
            <a:avLst/>
          </a:prstGeom>
          <a:solidFill>
            <a:srgbClr val="F2ECFA"/>
          </a:solidFill>
          <a:ln cap="flat" cmpd="sng" w="9525">
            <a:solidFill>
              <a:srgbClr val="F2ECF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1"/>
          <p:cNvSpPr/>
          <p:nvPr/>
        </p:nvSpPr>
        <p:spPr>
          <a:xfrm>
            <a:off x="3575304" y="1819656"/>
            <a:ext cx="658368" cy="658368"/>
          </a:xfrm>
          <a:prstGeom prst="rect">
            <a:avLst/>
          </a:prstGeom>
          <a:solidFill>
            <a:srgbClr val="7E10FF"/>
          </a:solidFill>
          <a:ln cap="flat" cmpd="sng" w="9525">
            <a:solidFill>
              <a:srgbClr val="7E1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8" name="Google Shape;218;p11"/>
          <p:cNvSpPr/>
          <p:nvPr/>
        </p:nvSpPr>
        <p:spPr>
          <a:xfrm>
            <a:off x="3575304" y="1920240"/>
            <a:ext cx="658368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900"/>
              <a:buFont typeface="Arial"/>
              <a:buNone/>
            </a:pPr>
            <a:r>
              <a:rPr b="1" i="0" lang="en-US" sz="1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  <a:endParaRPr b="0" i="0" sz="1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9" name="Google Shape;219;p11"/>
          <p:cNvSpPr/>
          <p:nvPr/>
        </p:nvSpPr>
        <p:spPr>
          <a:xfrm>
            <a:off x="2980944" y="2679192"/>
            <a:ext cx="1865376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4131A"/>
              </a:buClr>
              <a:buSzPts val="1650"/>
              <a:buFont typeface="Arial"/>
              <a:buNone/>
            </a:pPr>
            <a:r>
              <a:rPr b="1" i="0" lang="en-US" sz="1650" u="none" cap="none" strike="noStrike">
                <a:solidFill>
                  <a:srgbClr val="14131A"/>
                </a:solidFill>
                <a:latin typeface="Arial"/>
                <a:ea typeface="Arial"/>
                <a:cs typeface="Arial"/>
                <a:sym typeface="Arial"/>
              </a:rPr>
              <a:t>Построить U(s)</a:t>
            </a:r>
            <a:endParaRPr b="0" i="0" sz="16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0" name="Google Shape;220;p11"/>
          <p:cNvSpPr/>
          <p:nvPr/>
        </p:nvSpPr>
        <p:spPr>
          <a:xfrm>
            <a:off x="2953512" y="3246120"/>
            <a:ext cx="1901952" cy="3749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66273"/>
              </a:buClr>
              <a:buSzPts val="1330"/>
              <a:buFont typeface="Arial"/>
              <a:buNone/>
            </a:pPr>
            <a:r>
              <a:rPr b="0" i="0" lang="en-US" sz="1330" u="none" cap="none" strike="noStrike">
                <a:solidFill>
                  <a:srgbClr val="666273"/>
                </a:solidFill>
                <a:latin typeface="Arial"/>
                <a:ea typeface="Arial"/>
                <a:cs typeface="Arial"/>
                <a:sym typeface="Arial"/>
              </a:rPr>
              <a:t>LFSR → матрица</a:t>
            </a:r>
            <a:endParaRPr b="0" i="0" sz="133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1" name="Google Shape;221;p11"/>
          <p:cNvSpPr/>
          <p:nvPr/>
        </p:nvSpPr>
        <p:spPr>
          <a:xfrm>
            <a:off x="4983480" y="2505456"/>
            <a:ext cx="2196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7E10FF"/>
              </a:buClr>
              <a:buSzPts val="1800"/>
              <a:buFont typeface="Arial"/>
              <a:buNone/>
            </a:pPr>
            <a:r>
              <a:rPr b="1" lang="en-US" sz="1800">
                <a:solidFill>
                  <a:srgbClr val="7E10FF"/>
                </a:solidFill>
              </a:rPr>
              <a:t>&gt;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2" name="Google Shape;222;p11"/>
          <p:cNvSpPr/>
          <p:nvPr/>
        </p:nvSpPr>
        <p:spPr>
          <a:xfrm>
            <a:off x="5175504" y="1655064"/>
            <a:ext cx="2185416" cy="2221992"/>
          </a:xfrm>
          <a:prstGeom prst="rect">
            <a:avLst/>
          </a:prstGeom>
          <a:solidFill>
            <a:srgbClr val="EDE9FB"/>
          </a:solidFill>
          <a:ln cap="flat" cmpd="sng" w="9525">
            <a:solidFill>
              <a:srgbClr val="EDE9F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1"/>
          <p:cNvSpPr/>
          <p:nvPr/>
        </p:nvSpPr>
        <p:spPr>
          <a:xfrm>
            <a:off x="5934456" y="1819656"/>
            <a:ext cx="658368" cy="658368"/>
          </a:xfrm>
          <a:prstGeom prst="rect">
            <a:avLst/>
          </a:prstGeom>
          <a:solidFill>
            <a:srgbClr val="7E10FF"/>
          </a:solidFill>
          <a:ln cap="flat" cmpd="sng" w="9525">
            <a:solidFill>
              <a:srgbClr val="7E1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11"/>
          <p:cNvSpPr/>
          <p:nvPr/>
        </p:nvSpPr>
        <p:spPr>
          <a:xfrm>
            <a:off x="5934456" y="1920240"/>
            <a:ext cx="658368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900"/>
              <a:buFont typeface="Arial"/>
              <a:buNone/>
            </a:pPr>
            <a:r>
              <a:rPr b="1" i="0" lang="en-US" sz="1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  <a:endParaRPr b="0" i="0" sz="1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5" name="Google Shape;225;p11"/>
          <p:cNvSpPr/>
          <p:nvPr/>
        </p:nvSpPr>
        <p:spPr>
          <a:xfrm>
            <a:off x="5340096" y="2679192"/>
            <a:ext cx="1865376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4131A"/>
              </a:buClr>
              <a:buSzPts val="1650"/>
              <a:buFont typeface="Arial"/>
              <a:buNone/>
            </a:pPr>
            <a:r>
              <a:rPr b="1" i="0" lang="en-US" sz="1650" u="none" cap="none" strike="noStrike">
                <a:solidFill>
                  <a:srgbClr val="14131A"/>
                </a:solidFill>
                <a:latin typeface="Arial"/>
                <a:ea typeface="Arial"/>
                <a:cs typeface="Arial"/>
                <a:sym typeface="Arial"/>
              </a:rPr>
              <a:t>Найти t</a:t>
            </a:r>
            <a:endParaRPr b="0" i="0" sz="16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6" name="Google Shape;226;p11"/>
          <p:cNvSpPr/>
          <p:nvPr/>
        </p:nvSpPr>
        <p:spPr>
          <a:xfrm>
            <a:off x="5312664" y="3246120"/>
            <a:ext cx="1901952" cy="3749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66273"/>
              </a:buClr>
              <a:buSzPts val="1330"/>
              <a:buFont typeface="Arial"/>
              <a:buNone/>
            </a:pPr>
            <a:r>
              <a:rPr b="0" i="0" lang="en-US" sz="1330" u="none" cap="none" strike="noStrike">
                <a:solidFill>
                  <a:srgbClr val="666273"/>
                </a:solidFill>
                <a:latin typeface="Arial"/>
                <a:ea typeface="Arial"/>
                <a:cs typeface="Arial"/>
                <a:sym typeface="Arial"/>
              </a:rPr>
              <a:t>t = U(s)† w</a:t>
            </a:r>
            <a:endParaRPr b="0" i="0" sz="133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7" name="Google Shape;227;p11"/>
          <p:cNvSpPr/>
          <p:nvPr/>
        </p:nvSpPr>
        <p:spPr>
          <a:xfrm>
            <a:off x="7342632" y="2505456"/>
            <a:ext cx="2196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7E10FF"/>
              </a:buClr>
              <a:buSzPts val="1800"/>
              <a:buFont typeface="Arial"/>
              <a:buNone/>
            </a:pPr>
            <a:r>
              <a:rPr b="1" lang="en-US" sz="1800">
                <a:solidFill>
                  <a:srgbClr val="7E10FF"/>
                </a:solidFill>
              </a:rPr>
              <a:t>&gt;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8" name="Google Shape;228;p11"/>
          <p:cNvSpPr/>
          <p:nvPr/>
        </p:nvSpPr>
        <p:spPr>
          <a:xfrm>
            <a:off x="7534656" y="1655064"/>
            <a:ext cx="2185416" cy="2221992"/>
          </a:xfrm>
          <a:prstGeom prst="rect">
            <a:avLst/>
          </a:prstGeom>
          <a:solidFill>
            <a:srgbClr val="F2ECFA"/>
          </a:solidFill>
          <a:ln cap="flat" cmpd="sng" w="9525">
            <a:solidFill>
              <a:srgbClr val="F2ECF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9" name="Google Shape;229;p11"/>
          <p:cNvSpPr/>
          <p:nvPr/>
        </p:nvSpPr>
        <p:spPr>
          <a:xfrm>
            <a:off x="8293608" y="1819656"/>
            <a:ext cx="658368" cy="658368"/>
          </a:xfrm>
          <a:prstGeom prst="rect">
            <a:avLst/>
          </a:prstGeom>
          <a:solidFill>
            <a:srgbClr val="7E10FF"/>
          </a:solidFill>
          <a:ln cap="flat" cmpd="sng" w="9525">
            <a:solidFill>
              <a:srgbClr val="7E1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11"/>
          <p:cNvSpPr/>
          <p:nvPr/>
        </p:nvSpPr>
        <p:spPr>
          <a:xfrm>
            <a:off x="8293608" y="1920240"/>
            <a:ext cx="658368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900"/>
              <a:buFont typeface="Arial"/>
              <a:buNone/>
            </a:pPr>
            <a:r>
              <a:rPr b="1" i="0" lang="en-US" sz="1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  <a:endParaRPr b="0" i="0" sz="1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1" name="Google Shape;231;p11"/>
          <p:cNvSpPr/>
          <p:nvPr/>
        </p:nvSpPr>
        <p:spPr>
          <a:xfrm>
            <a:off x="7699248" y="2679192"/>
            <a:ext cx="1865376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4131A"/>
              </a:buClr>
              <a:buSzPts val="1650"/>
              <a:buFont typeface="Arial"/>
              <a:buNone/>
            </a:pPr>
            <a:r>
              <a:rPr b="1" i="0" lang="en-US" sz="1650" u="none" cap="none" strike="noStrike">
                <a:solidFill>
                  <a:srgbClr val="14131A"/>
                </a:solidFill>
                <a:latin typeface="Arial"/>
                <a:ea typeface="Arial"/>
                <a:cs typeface="Arial"/>
                <a:sym typeface="Arial"/>
              </a:rPr>
              <a:t>Квантовать t</a:t>
            </a:r>
            <a:endParaRPr b="0" i="0" sz="16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2" name="Google Shape;232;p11"/>
          <p:cNvSpPr/>
          <p:nvPr/>
        </p:nvSpPr>
        <p:spPr>
          <a:xfrm>
            <a:off x="7671816" y="3246120"/>
            <a:ext cx="1901952" cy="3749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66273"/>
              </a:buClr>
              <a:buSzPts val="1330"/>
              <a:buFont typeface="Arial"/>
              <a:buNone/>
            </a:pPr>
            <a:r>
              <a:rPr b="0" i="0" lang="en-US" sz="1330" u="none" cap="none" strike="noStrike">
                <a:solidFill>
                  <a:srgbClr val="666273"/>
                </a:solidFill>
                <a:latin typeface="Arial"/>
                <a:ea typeface="Arial"/>
                <a:cs typeface="Arial"/>
                <a:sym typeface="Arial"/>
              </a:rPr>
              <a:t>4-bit q и exponent</a:t>
            </a:r>
            <a:endParaRPr b="0" i="0" sz="133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3" name="Google Shape;233;p11"/>
          <p:cNvSpPr/>
          <p:nvPr/>
        </p:nvSpPr>
        <p:spPr>
          <a:xfrm>
            <a:off x="9701784" y="2505481"/>
            <a:ext cx="2196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7E10FF"/>
              </a:buClr>
              <a:buSzPts val="1800"/>
              <a:buFont typeface="Arial"/>
              <a:buNone/>
            </a:pPr>
            <a:r>
              <a:rPr b="1" lang="en-US" sz="1800">
                <a:solidFill>
                  <a:srgbClr val="7E10FF"/>
                </a:solidFill>
              </a:rPr>
              <a:t>&gt;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4" name="Google Shape;234;p11"/>
          <p:cNvSpPr/>
          <p:nvPr/>
        </p:nvSpPr>
        <p:spPr>
          <a:xfrm>
            <a:off x="9893808" y="1655064"/>
            <a:ext cx="2185416" cy="2221992"/>
          </a:xfrm>
          <a:prstGeom prst="rect">
            <a:avLst/>
          </a:prstGeom>
          <a:solidFill>
            <a:srgbClr val="EDE9FB"/>
          </a:solidFill>
          <a:ln cap="flat" cmpd="sng" w="9525">
            <a:solidFill>
              <a:srgbClr val="EDE9F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5" name="Google Shape;235;p11"/>
          <p:cNvSpPr/>
          <p:nvPr/>
        </p:nvSpPr>
        <p:spPr>
          <a:xfrm>
            <a:off x="10652760" y="1819656"/>
            <a:ext cx="658368" cy="658368"/>
          </a:xfrm>
          <a:prstGeom prst="rect">
            <a:avLst/>
          </a:prstGeom>
          <a:solidFill>
            <a:srgbClr val="7E10FF"/>
          </a:solidFill>
          <a:ln cap="flat" cmpd="sng" w="9525">
            <a:solidFill>
              <a:srgbClr val="7E1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6" name="Google Shape;236;p11"/>
          <p:cNvSpPr/>
          <p:nvPr/>
        </p:nvSpPr>
        <p:spPr>
          <a:xfrm>
            <a:off x="10652760" y="1920240"/>
            <a:ext cx="658368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900"/>
              <a:buFont typeface="Arial"/>
              <a:buNone/>
            </a:pPr>
            <a:r>
              <a:rPr b="1" i="0" lang="en-US" sz="1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1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7" name="Google Shape;237;p11"/>
          <p:cNvSpPr/>
          <p:nvPr/>
        </p:nvSpPr>
        <p:spPr>
          <a:xfrm>
            <a:off x="10058400" y="2679192"/>
            <a:ext cx="1865376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4131A"/>
              </a:buClr>
              <a:buSzPts val="1650"/>
              <a:buFont typeface="Arial"/>
              <a:buNone/>
            </a:pPr>
            <a:r>
              <a:rPr b="1" i="0" lang="en-US" sz="1650" u="none" cap="none" strike="noStrike">
                <a:solidFill>
                  <a:srgbClr val="14131A"/>
                </a:solidFill>
                <a:latin typeface="Arial"/>
                <a:ea typeface="Arial"/>
                <a:cs typeface="Arial"/>
                <a:sym typeface="Arial"/>
              </a:rPr>
              <a:t>Сравнить ошибку</a:t>
            </a:r>
            <a:endParaRPr b="0" i="0" sz="16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8" name="Google Shape;238;p11"/>
          <p:cNvSpPr/>
          <p:nvPr/>
        </p:nvSpPr>
        <p:spPr>
          <a:xfrm>
            <a:off x="10030968" y="3246120"/>
            <a:ext cx="1901952" cy="37490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66273"/>
              </a:buClr>
              <a:buSzPts val="1330"/>
              <a:buFont typeface="Arial"/>
              <a:buNone/>
            </a:pPr>
            <a:r>
              <a:rPr b="0" i="0" lang="en-US" sz="1330" u="none" cap="none" strike="noStrike">
                <a:solidFill>
                  <a:srgbClr val="666273"/>
                </a:solidFill>
                <a:latin typeface="Arial"/>
                <a:ea typeface="Arial"/>
                <a:cs typeface="Arial"/>
                <a:sym typeface="Arial"/>
              </a:rPr>
              <a:t>||w − U(s)t||²</a:t>
            </a:r>
            <a:endParaRPr b="0" i="0" sz="133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9" name="Google Shape;239;p11"/>
          <p:cNvSpPr/>
          <p:nvPr/>
        </p:nvSpPr>
        <p:spPr>
          <a:xfrm>
            <a:off x="704088" y="4334256"/>
            <a:ext cx="10744200" cy="1188720"/>
          </a:xfrm>
          <a:prstGeom prst="rect">
            <a:avLst/>
          </a:prstGeom>
          <a:solidFill>
            <a:srgbClr val="F7F7FA"/>
          </a:solidFill>
          <a:ln cap="flat" cmpd="sng" w="9525">
            <a:solidFill>
              <a:srgbClr val="F7F7F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0" name="Google Shape;240;p11"/>
          <p:cNvSpPr/>
          <p:nvPr/>
        </p:nvSpPr>
        <p:spPr>
          <a:xfrm>
            <a:off x="850392" y="4526280"/>
            <a:ext cx="10442448" cy="4846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7E10FF"/>
              </a:buClr>
              <a:buSzPts val="2400"/>
              <a:buFont typeface="Arial"/>
              <a:buNone/>
            </a:pPr>
            <a:r>
              <a:rPr b="1" i="0" lang="en-US" sz="2400" u="none" cap="none" strike="noStrike">
                <a:solidFill>
                  <a:srgbClr val="7E10FF"/>
                </a:solidFill>
                <a:latin typeface="Arial"/>
                <a:ea typeface="Arial"/>
                <a:cs typeface="Arial"/>
                <a:sym typeface="Arial"/>
              </a:rPr>
              <a:t>Выбор: (s*, t*) = argminₛ ||w − U(s)·q(U(s)†w)||²</a:t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45" name="Shape 2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p1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7E10FF"/>
          </a:solidFill>
          <a:ln cap="flat" cmpd="sng" w="9525">
            <a:solidFill>
              <a:srgbClr val="7E1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7" name="Google Shape;247;p12"/>
          <p:cNvSpPr/>
          <p:nvPr/>
        </p:nvSpPr>
        <p:spPr>
          <a:xfrm>
            <a:off x="502920" y="128016"/>
            <a:ext cx="10698480" cy="4297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50"/>
              <a:buFont typeface="Arial"/>
              <a:buNone/>
            </a:pPr>
            <a:r>
              <a:rPr b="1" i="0" lang="en-US" sz="22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3.4. Почему в работе выбраны именно 3 и 4 бита</a:t>
            </a:r>
            <a:endParaRPr b="0" i="0" sz="22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8" name="Google Shape;248;p12"/>
          <p:cNvSpPr/>
          <p:nvPr/>
        </p:nvSpPr>
        <p:spPr>
          <a:xfrm>
            <a:off x="10698480" y="256032"/>
            <a:ext cx="978408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EBDAFF"/>
              </a:buClr>
              <a:buSzPts val="1080"/>
              <a:buFont typeface="Arial"/>
              <a:buNone/>
            </a:pPr>
            <a:r>
              <a:rPr b="1" i="0" lang="en-US" sz="1080" u="none" cap="none" strike="noStrike">
                <a:solidFill>
                  <a:srgbClr val="EBDAFF"/>
                </a:solidFill>
                <a:latin typeface="Arial"/>
                <a:ea typeface="Arial"/>
                <a:cs typeface="Arial"/>
                <a:sym typeface="Arial"/>
              </a:rPr>
              <a:t>3.4</a:t>
            </a:r>
            <a:endParaRPr b="0" i="0" sz="108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249" name="Google Shape;249;p12"/>
          <p:cNvCxnSpPr/>
          <p:nvPr/>
        </p:nvCxnSpPr>
        <p:spPr>
          <a:xfrm>
            <a:off x="502920" y="6510528"/>
            <a:ext cx="11183112" cy="0"/>
          </a:xfrm>
          <a:prstGeom prst="straightConnector1">
            <a:avLst/>
          </a:prstGeom>
          <a:noFill/>
          <a:ln cap="flat" cmpd="sng" w="10150">
            <a:solidFill>
              <a:srgbClr val="DAD6E2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50" name="Google Shape;250;p12"/>
          <p:cNvSpPr/>
          <p:nvPr/>
        </p:nvSpPr>
        <p:spPr>
          <a:xfrm>
            <a:off x="502920" y="6574536"/>
            <a:ext cx="9966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66273"/>
              </a:buClr>
              <a:buSzPts val="1020"/>
              <a:buFont typeface="Arial"/>
              <a:buNone/>
            </a:pPr>
            <a:r>
              <a:rPr b="0" i="0" lang="en-US" sz="1020" u="none" cap="none" strike="noStrike">
                <a:solidFill>
                  <a:srgbClr val="666273"/>
                </a:solidFill>
                <a:latin typeface="Arial"/>
                <a:ea typeface="Arial"/>
                <a:cs typeface="Arial"/>
                <a:sym typeface="Arial"/>
              </a:rPr>
              <a:t>Источник: статья, с. 6</a:t>
            </a:r>
            <a:r>
              <a:rPr lang="en-US" sz="1020">
                <a:solidFill>
                  <a:srgbClr val="666273"/>
                </a:solidFill>
              </a:rPr>
              <a:t>-</a:t>
            </a:r>
            <a:r>
              <a:rPr b="0" i="0" lang="en-US" sz="1020" u="none" cap="none" strike="noStrike">
                <a:solidFill>
                  <a:srgbClr val="666273"/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  <a:r>
              <a:rPr lang="en-US" sz="1020">
                <a:solidFill>
                  <a:srgbClr val="666273"/>
                </a:solidFill>
              </a:rPr>
              <a:t>, параграф </a:t>
            </a:r>
            <a:r>
              <a:rPr b="0" i="0" lang="en-US" sz="1020" u="none" cap="none" strike="noStrike">
                <a:solidFill>
                  <a:srgbClr val="666273"/>
                </a:solidFill>
                <a:latin typeface="Arial"/>
                <a:ea typeface="Arial"/>
                <a:cs typeface="Arial"/>
                <a:sym typeface="Arial"/>
              </a:rPr>
              <a:t>3.4, таблица 1</a:t>
            </a:r>
            <a:endParaRPr b="0" i="0" sz="102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1" name="Google Shape;251;p12"/>
          <p:cNvSpPr/>
          <p:nvPr/>
        </p:nvSpPr>
        <p:spPr>
          <a:xfrm>
            <a:off x="11109960" y="6565392"/>
            <a:ext cx="566928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7E10FF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7E10FF"/>
                </a:solidFill>
                <a:latin typeface="Arial"/>
                <a:ea typeface="Arial"/>
                <a:cs typeface="Arial"/>
                <a:sym typeface="Arial"/>
              </a:rPr>
              <a:t>10/19</a:t>
            </a:r>
            <a:endParaRPr b="0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2" name="Google Shape;252;p12"/>
          <p:cNvSpPr/>
          <p:nvPr/>
        </p:nvSpPr>
        <p:spPr>
          <a:xfrm>
            <a:off x="731520" y="1042416"/>
            <a:ext cx="10716768" cy="1078992"/>
          </a:xfrm>
          <a:prstGeom prst="rect">
            <a:avLst/>
          </a:prstGeom>
          <a:solidFill>
            <a:srgbClr val="F1EAFE"/>
          </a:solidFill>
          <a:ln cap="flat" cmpd="sng" w="9525">
            <a:solidFill>
              <a:srgbClr val="F1EAF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12"/>
          <p:cNvSpPr/>
          <p:nvPr/>
        </p:nvSpPr>
        <p:spPr>
          <a:xfrm>
            <a:off x="1143000" y="1225296"/>
            <a:ext cx="996696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7E10FF"/>
              </a:buClr>
              <a:buSzPts val="3500"/>
              <a:buFont typeface="Arial"/>
              <a:buNone/>
            </a:pPr>
            <a:r>
              <a:rPr b="1" i="0" lang="en-US" sz="3500" u="none" cap="none" strike="noStrike">
                <a:solidFill>
                  <a:srgbClr val="7E10FF"/>
                </a:solidFill>
                <a:latin typeface="Arial"/>
                <a:ea typeface="Arial"/>
                <a:cs typeface="Arial"/>
                <a:sym typeface="Arial"/>
              </a:rPr>
              <a:t>M = ( K + 4 + 4P ) / C</a:t>
            </a:r>
            <a:endParaRPr b="0" i="0" sz="35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4" name="Google Shape;254;p12"/>
          <p:cNvSpPr/>
          <p:nvPr/>
        </p:nvSpPr>
        <p:spPr>
          <a:xfrm>
            <a:off x="713232" y="2542032"/>
            <a:ext cx="5248656" cy="2304288"/>
          </a:xfrm>
          <a:prstGeom prst="rect">
            <a:avLst/>
          </a:prstGeom>
          <a:solidFill>
            <a:srgbClr val="F9F8FC"/>
          </a:solidFill>
          <a:ln cap="flat" cmpd="sng" w="9525">
            <a:solidFill>
              <a:srgbClr val="F9F8F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5" name="Google Shape;255;p12"/>
          <p:cNvSpPr/>
          <p:nvPr/>
        </p:nvSpPr>
        <p:spPr>
          <a:xfrm>
            <a:off x="713232" y="2542032"/>
            <a:ext cx="73152" cy="2304288"/>
          </a:xfrm>
          <a:prstGeom prst="rect">
            <a:avLst/>
          </a:prstGeom>
          <a:solidFill>
            <a:srgbClr val="0069FF"/>
          </a:solidFill>
          <a:ln cap="flat" cmpd="sng" w="9525">
            <a:solidFill>
              <a:srgbClr val="0069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6" name="Google Shape;256;p12"/>
          <p:cNvSpPr/>
          <p:nvPr/>
        </p:nvSpPr>
        <p:spPr>
          <a:xfrm>
            <a:off x="914400" y="2706624"/>
            <a:ext cx="4864608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69FF"/>
              </a:buClr>
              <a:buSzPts val="1820"/>
              <a:buFont typeface="Arial"/>
              <a:buNone/>
            </a:pPr>
            <a:r>
              <a:rPr b="1" i="0" lang="en-US" sz="1820" u="none" cap="none" strike="noStrike">
                <a:solidFill>
                  <a:srgbClr val="0069FF"/>
                </a:solidFill>
                <a:latin typeface="Arial"/>
                <a:ea typeface="Arial"/>
                <a:cs typeface="Arial"/>
                <a:sym typeface="Arial"/>
              </a:rPr>
              <a:t>4-bit SeedLM</a:t>
            </a:r>
            <a:endParaRPr b="0" i="0" sz="182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7" name="Google Shape;257;p12"/>
          <p:cNvSpPr/>
          <p:nvPr/>
        </p:nvSpPr>
        <p:spPr>
          <a:xfrm>
            <a:off x="914400" y="3145536"/>
            <a:ext cx="4837176" cy="15727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C3945"/>
              </a:buClr>
              <a:buSzPts val="2000"/>
              <a:buFont typeface="Arial"/>
              <a:buNone/>
            </a:pPr>
            <a:r>
              <a:rPr b="0" i="0" lang="en-US" sz="2000" u="none" cap="none" strike="noStrike">
                <a:solidFill>
                  <a:srgbClr val="3C3945"/>
                </a:solidFill>
                <a:latin typeface="Arial"/>
                <a:ea typeface="Arial"/>
                <a:cs typeface="Arial"/>
                <a:sym typeface="Arial"/>
              </a:rPr>
              <a:t>K = 16, C = 8, P = 3</a:t>
            </a:r>
            <a:endParaRPr b="0" i="0" sz="2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C3945"/>
              </a:buClr>
              <a:buSzPts val="2000"/>
              <a:buFont typeface="Arial"/>
              <a:buNone/>
            </a:pPr>
            <a:r>
              <a:rPr b="0" i="0" lang="en-US" sz="2000" u="none" cap="none" strike="noStrike">
                <a:solidFill>
                  <a:srgbClr val="3C3945"/>
                </a:solidFill>
                <a:latin typeface="Arial"/>
                <a:ea typeface="Arial"/>
                <a:cs typeface="Arial"/>
                <a:sym typeface="Arial"/>
              </a:rPr>
              <a:t>M = (16 + 4 + 4·3)/8 = 4 бита на вес.</a:t>
            </a:r>
            <a:endParaRPr b="0" i="0" sz="2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8" name="Google Shape;258;p12"/>
          <p:cNvSpPr/>
          <p:nvPr/>
        </p:nvSpPr>
        <p:spPr>
          <a:xfrm>
            <a:off x="6208776" y="2542032"/>
            <a:ext cx="5248656" cy="2304288"/>
          </a:xfrm>
          <a:prstGeom prst="rect">
            <a:avLst/>
          </a:prstGeom>
          <a:solidFill>
            <a:srgbClr val="F9F8FC"/>
          </a:solidFill>
          <a:ln cap="flat" cmpd="sng" w="9525">
            <a:solidFill>
              <a:srgbClr val="F9F8F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9" name="Google Shape;259;p12"/>
          <p:cNvSpPr/>
          <p:nvPr/>
        </p:nvSpPr>
        <p:spPr>
          <a:xfrm>
            <a:off x="6208776" y="2542032"/>
            <a:ext cx="73152" cy="2304288"/>
          </a:xfrm>
          <a:prstGeom prst="rect">
            <a:avLst/>
          </a:prstGeom>
          <a:solidFill>
            <a:srgbClr val="7E10FF"/>
          </a:solidFill>
          <a:ln cap="flat" cmpd="sng" w="9525">
            <a:solidFill>
              <a:srgbClr val="7E1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0" name="Google Shape;260;p12"/>
          <p:cNvSpPr/>
          <p:nvPr/>
        </p:nvSpPr>
        <p:spPr>
          <a:xfrm>
            <a:off x="6409944" y="2706624"/>
            <a:ext cx="4864608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E10FF"/>
              </a:buClr>
              <a:buSzPts val="1820"/>
              <a:buFont typeface="Arial"/>
              <a:buNone/>
            </a:pPr>
            <a:r>
              <a:rPr b="1" i="0" lang="en-US" sz="1820" u="none" cap="none" strike="noStrike">
                <a:solidFill>
                  <a:srgbClr val="7E10FF"/>
                </a:solidFill>
                <a:latin typeface="Arial"/>
                <a:ea typeface="Arial"/>
                <a:cs typeface="Arial"/>
                <a:sym typeface="Arial"/>
              </a:rPr>
              <a:t>3-bit SeedLM</a:t>
            </a:r>
            <a:endParaRPr b="0" i="0" sz="182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1" name="Google Shape;261;p12"/>
          <p:cNvSpPr/>
          <p:nvPr/>
        </p:nvSpPr>
        <p:spPr>
          <a:xfrm>
            <a:off x="6409944" y="3145536"/>
            <a:ext cx="4837176" cy="15727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C3945"/>
              </a:buClr>
              <a:buSzPts val="2000"/>
              <a:buFont typeface="Arial"/>
              <a:buNone/>
            </a:pPr>
            <a:r>
              <a:rPr b="0" i="0" lang="en-US" sz="2000" u="none" cap="none" strike="noStrike">
                <a:solidFill>
                  <a:srgbClr val="3C3945"/>
                </a:solidFill>
                <a:latin typeface="Arial"/>
                <a:ea typeface="Arial"/>
                <a:cs typeface="Arial"/>
                <a:sym typeface="Arial"/>
              </a:rPr>
              <a:t>K = 16, C = 12, P = 4</a:t>
            </a:r>
            <a:endParaRPr b="0" i="0" sz="2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C3945"/>
              </a:buClr>
              <a:buSzPts val="2000"/>
              <a:buFont typeface="Arial"/>
              <a:buNone/>
            </a:pPr>
            <a:r>
              <a:rPr b="0" i="0" lang="en-US" sz="2000" u="none" cap="none" strike="noStrike">
                <a:solidFill>
                  <a:srgbClr val="3C3945"/>
                </a:solidFill>
                <a:latin typeface="Arial"/>
                <a:ea typeface="Arial"/>
                <a:cs typeface="Arial"/>
                <a:sym typeface="Arial"/>
              </a:rPr>
              <a:t>M = (16 + 4 + 4·4)/12 = 3 бита на вес.</a:t>
            </a:r>
            <a:endParaRPr b="0" i="0" sz="2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13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7E10FF"/>
          </a:solidFill>
          <a:ln cap="flat" cmpd="sng" w="9525">
            <a:solidFill>
              <a:srgbClr val="7E1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8" name="Google Shape;268;p13"/>
          <p:cNvSpPr/>
          <p:nvPr/>
        </p:nvSpPr>
        <p:spPr>
          <a:xfrm>
            <a:off x="502920" y="128016"/>
            <a:ext cx="10698480" cy="4297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50"/>
              <a:buFont typeface="Arial"/>
              <a:buNone/>
            </a:pPr>
            <a:r>
              <a:rPr b="1" i="0" lang="en-US" sz="22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4. </a:t>
            </a:r>
            <a:r>
              <a:rPr b="1" lang="en-US" sz="2250">
                <a:solidFill>
                  <a:srgbClr val="FFFFFF"/>
                </a:solidFill>
              </a:rPr>
              <a:t>Ч</a:t>
            </a:r>
            <a:r>
              <a:rPr b="1" i="0" lang="en-US" sz="22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то именно проверяли авторы</a:t>
            </a:r>
            <a:endParaRPr b="0" i="0" sz="22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9" name="Google Shape;269;p13"/>
          <p:cNvSpPr/>
          <p:nvPr/>
        </p:nvSpPr>
        <p:spPr>
          <a:xfrm>
            <a:off x="10698480" y="256032"/>
            <a:ext cx="978408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EBDAFF"/>
              </a:buClr>
              <a:buSzPts val="1080"/>
              <a:buFont typeface="Arial"/>
              <a:buNone/>
            </a:pPr>
            <a:r>
              <a:rPr b="1" i="0" lang="en-US" sz="1080" u="none" cap="none" strike="noStrike">
                <a:solidFill>
                  <a:srgbClr val="EBDAFF"/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  <a:endParaRPr b="0" i="0" sz="108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270" name="Google Shape;270;p13"/>
          <p:cNvCxnSpPr/>
          <p:nvPr/>
        </p:nvCxnSpPr>
        <p:spPr>
          <a:xfrm>
            <a:off x="502920" y="6510528"/>
            <a:ext cx="11183112" cy="0"/>
          </a:xfrm>
          <a:prstGeom prst="straightConnector1">
            <a:avLst/>
          </a:prstGeom>
          <a:noFill/>
          <a:ln cap="flat" cmpd="sng" w="10150">
            <a:solidFill>
              <a:srgbClr val="DAD6E2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71" name="Google Shape;271;p13"/>
          <p:cNvSpPr/>
          <p:nvPr/>
        </p:nvSpPr>
        <p:spPr>
          <a:xfrm>
            <a:off x="502920" y="6574536"/>
            <a:ext cx="9966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66273"/>
              </a:buClr>
              <a:buSzPts val="1020"/>
              <a:buFont typeface="Arial"/>
              <a:buNone/>
            </a:pPr>
            <a:r>
              <a:rPr b="0" i="0" lang="en-US" sz="1020" u="none" cap="none" strike="noStrike">
                <a:solidFill>
                  <a:srgbClr val="666273"/>
                </a:solidFill>
                <a:latin typeface="Arial"/>
                <a:ea typeface="Arial"/>
                <a:cs typeface="Arial"/>
                <a:sym typeface="Arial"/>
              </a:rPr>
              <a:t>Источник: статья, с. 7 · §4, §4.1</a:t>
            </a:r>
            <a:endParaRPr b="0" i="0" sz="102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2" name="Google Shape;272;p13"/>
          <p:cNvSpPr/>
          <p:nvPr/>
        </p:nvSpPr>
        <p:spPr>
          <a:xfrm>
            <a:off x="11109960" y="6565392"/>
            <a:ext cx="566928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7E10FF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7E10FF"/>
                </a:solidFill>
                <a:latin typeface="Arial"/>
                <a:ea typeface="Arial"/>
                <a:cs typeface="Arial"/>
                <a:sym typeface="Arial"/>
              </a:rPr>
              <a:t>11/19</a:t>
            </a:r>
            <a:endParaRPr b="0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3" name="Google Shape;273;p13"/>
          <p:cNvSpPr/>
          <p:nvPr/>
        </p:nvSpPr>
        <p:spPr>
          <a:xfrm>
            <a:off x="630936" y="1042416"/>
            <a:ext cx="5303520" cy="2011680"/>
          </a:xfrm>
          <a:prstGeom prst="rect">
            <a:avLst/>
          </a:prstGeom>
          <a:solidFill>
            <a:srgbClr val="F9F8FC"/>
          </a:solidFill>
          <a:ln cap="flat" cmpd="sng" w="9525">
            <a:solidFill>
              <a:srgbClr val="F9F8F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4" name="Google Shape;274;p13"/>
          <p:cNvSpPr/>
          <p:nvPr/>
        </p:nvSpPr>
        <p:spPr>
          <a:xfrm>
            <a:off x="630936" y="1042416"/>
            <a:ext cx="73152" cy="2011680"/>
          </a:xfrm>
          <a:prstGeom prst="rect">
            <a:avLst/>
          </a:prstGeom>
          <a:solidFill>
            <a:srgbClr val="7E10FF"/>
          </a:solidFill>
          <a:ln cap="flat" cmpd="sng" w="9525">
            <a:solidFill>
              <a:srgbClr val="7E1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5" name="Google Shape;275;p13"/>
          <p:cNvSpPr/>
          <p:nvPr/>
        </p:nvSpPr>
        <p:spPr>
          <a:xfrm>
            <a:off x="832104" y="1207008"/>
            <a:ext cx="4919472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E10FF"/>
              </a:buClr>
              <a:buSzPts val="1820"/>
              <a:buFont typeface="Arial"/>
              <a:buNone/>
            </a:pPr>
            <a:r>
              <a:rPr b="1" i="0" lang="en-US" sz="1820" u="none" cap="none" strike="noStrike">
                <a:solidFill>
                  <a:srgbClr val="7E10FF"/>
                </a:solidFill>
                <a:latin typeface="Arial"/>
                <a:ea typeface="Arial"/>
                <a:cs typeface="Arial"/>
                <a:sym typeface="Arial"/>
              </a:rPr>
              <a:t>Модели</a:t>
            </a:r>
            <a:endParaRPr b="0" i="0" sz="182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6" name="Google Shape;276;p13"/>
          <p:cNvSpPr/>
          <p:nvPr/>
        </p:nvSpPr>
        <p:spPr>
          <a:xfrm>
            <a:off x="832104" y="1645920"/>
            <a:ext cx="4892040" cy="1280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C3945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3C3945"/>
                </a:solidFill>
                <a:latin typeface="Arial"/>
                <a:ea typeface="Arial"/>
                <a:cs typeface="Arial"/>
                <a:sym typeface="Arial"/>
              </a:rPr>
              <a:t>Llama 2: 7B, 13B, 70B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C3945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3C3945"/>
                </a:solidFill>
                <a:latin typeface="Arial"/>
                <a:ea typeface="Arial"/>
                <a:cs typeface="Arial"/>
                <a:sym typeface="Arial"/>
              </a:rPr>
              <a:t>Llama 3: 8B, 70B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C3945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3C3945"/>
                </a:solidFill>
                <a:latin typeface="Arial"/>
                <a:ea typeface="Arial"/>
                <a:cs typeface="Arial"/>
                <a:sym typeface="Arial"/>
              </a:rPr>
              <a:t>Режим: 3 и 4 бита на параметр.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7" name="Google Shape;277;p13"/>
          <p:cNvSpPr/>
          <p:nvPr/>
        </p:nvSpPr>
        <p:spPr>
          <a:xfrm>
            <a:off x="6153912" y="1042416"/>
            <a:ext cx="5303520" cy="2011680"/>
          </a:xfrm>
          <a:prstGeom prst="rect">
            <a:avLst/>
          </a:prstGeom>
          <a:solidFill>
            <a:srgbClr val="F9F8FC"/>
          </a:solidFill>
          <a:ln cap="flat" cmpd="sng" w="9525">
            <a:solidFill>
              <a:srgbClr val="F9F8F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8" name="Google Shape;278;p13"/>
          <p:cNvSpPr/>
          <p:nvPr/>
        </p:nvSpPr>
        <p:spPr>
          <a:xfrm>
            <a:off x="6153912" y="1042416"/>
            <a:ext cx="73152" cy="2011680"/>
          </a:xfrm>
          <a:prstGeom prst="rect">
            <a:avLst/>
          </a:prstGeom>
          <a:solidFill>
            <a:srgbClr val="0069FF"/>
          </a:solidFill>
          <a:ln cap="flat" cmpd="sng" w="9525">
            <a:solidFill>
              <a:srgbClr val="0069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9" name="Google Shape;279;p13"/>
          <p:cNvSpPr/>
          <p:nvPr/>
        </p:nvSpPr>
        <p:spPr>
          <a:xfrm>
            <a:off x="6355080" y="1207008"/>
            <a:ext cx="4919472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69FF"/>
              </a:buClr>
              <a:buSzPts val="1820"/>
              <a:buFont typeface="Arial"/>
              <a:buNone/>
            </a:pPr>
            <a:r>
              <a:rPr b="1" i="0" lang="en-US" sz="1820" u="none" cap="none" strike="noStrike">
                <a:solidFill>
                  <a:srgbClr val="0069FF"/>
                </a:solidFill>
                <a:latin typeface="Arial"/>
                <a:ea typeface="Arial"/>
                <a:cs typeface="Arial"/>
                <a:sym typeface="Arial"/>
              </a:rPr>
              <a:t>Качество генерации</a:t>
            </a:r>
            <a:endParaRPr b="0" i="0" sz="182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0" name="Google Shape;280;p13"/>
          <p:cNvSpPr/>
          <p:nvPr/>
        </p:nvSpPr>
        <p:spPr>
          <a:xfrm>
            <a:off x="6355080" y="1645920"/>
            <a:ext cx="4892040" cy="1280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C3945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3C3945"/>
                </a:solidFill>
                <a:latin typeface="Arial"/>
                <a:ea typeface="Arial"/>
                <a:cs typeface="Arial"/>
                <a:sym typeface="Arial"/>
              </a:rPr>
              <a:t>WikiText-2 perplexity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C3945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3C3945"/>
                </a:solidFill>
                <a:latin typeface="Arial"/>
                <a:ea typeface="Arial"/>
                <a:cs typeface="Arial"/>
                <a:sym typeface="Arial"/>
              </a:rPr>
              <a:t>166 окон по 2048 токенов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C3945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3C3945"/>
                </a:solidFill>
                <a:latin typeface="Arial"/>
                <a:ea typeface="Arial"/>
                <a:cs typeface="Arial"/>
                <a:sym typeface="Arial"/>
              </a:rPr>
              <a:t>Меньше perplexity </a:t>
            </a:r>
            <a:r>
              <a:rPr lang="en-US" sz="1800">
                <a:solidFill>
                  <a:srgbClr val="3C3945"/>
                </a:solidFill>
              </a:rPr>
              <a:t>- </a:t>
            </a:r>
            <a:r>
              <a:rPr b="0" i="0" lang="en-US" sz="1800" u="none" cap="none" strike="noStrike">
                <a:solidFill>
                  <a:srgbClr val="3C3945"/>
                </a:solidFill>
                <a:latin typeface="Arial"/>
                <a:ea typeface="Arial"/>
                <a:cs typeface="Arial"/>
                <a:sym typeface="Arial"/>
              </a:rPr>
              <a:t>лучше.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1" name="Google Shape;281;p13"/>
          <p:cNvSpPr/>
          <p:nvPr/>
        </p:nvSpPr>
        <p:spPr>
          <a:xfrm>
            <a:off x="630936" y="3355848"/>
            <a:ext cx="5303520" cy="2011680"/>
          </a:xfrm>
          <a:prstGeom prst="rect">
            <a:avLst/>
          </a:prstGeom>
          <a:solidFill>
            <a:srgbClr val="F9F8FC"/>
          </a:solidFill>
          <a:ln cap="flat" cmpd="sng" w="9525">
            <a:solidFill>
              <a:srgbClr val="F9F8F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2" name="Google Shape;282;p13"/>
          <p:cNvSpPr/>
          <p:nvPr/>
        </p:nvSpPr>
        <p:spPr>
          <a:xfrm>
            <a:off x="630936" y="3355848"/>
            <a:ext cx="73152" cy="2011680"/>
          </a:xfrm>
          <a:prstGeom prst="rect">
            <a:avLst/>
          </a:prstGeom>
          <a:solidFill>
            <a:srgbClr val="008C83"/>
          </a:solidFill>
          <a:ln cap="flat" cmpd="sng" w="9525">
            <a:solidFill>
              <a:srgbClr val="008C8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13"/>
          <p:cNvSpPr/>
          <p:nvPr/>
        </p:nvSpPr>
        <p:spPr>
          <a:xfrm>
            <a:off x="832104" y="3520440"/>
            <a:ext cx="4919472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8C83"/>
              </a:buClr>
              <a:buSzPts val="1820"/>
              <a:buFont typeface="Arial"/>
              <a:buNone/>
            </a:pPr>
            <a:r>
              <a:rPr b="1" i="0" lang="en-US" sz="1820" u="none" cap="none" strike="noStrike">
                <a:solidFill>
                  <a:srgbClr val="008C83"/>
                </a:solidFill>
                <a:latin typeface="Arial"/>
                <a:ea typeface="Arial"/>
                <a:cs typeface="Arial"/>
                <a:sym typeface="Arial"/>
              </a:rPr>
              <a:t>Zero-shot задачи</a:t>
            </a:r>
            <a:endParaRPr b="0" i="0" sz="182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4" name="Google Shape;284;p13"/>
          <p:cNvSpPr/>
          <p:nvPr/>
        </p:nvSpPr>
        <p:spPr>
          <a:xfrm>
            <a:off x="832104" y="3959352"/>
            <a:ext cx="4892040" cy="1280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C3945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3C3945"/>
                </a:solidFill>
                <a:latin typeface="Arial"/>
                <a:ea typeface="Arial"/>
                <a:cs typeface="Arial"/>
                <a:sym typeface="Arial"/>
              </a:rPr>
              <a:t>ARC-Easy, ARC-Challenge, HellaSwag, WinoGrande, BoolQ; LM Evaluation Harness v0.4.3.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5" name="Google Shape;285;p13"/>
          <p:cNvSpPr/>
          <p:nvPr/>
        </p:nvSpPr>
        <p:spPr>
          <a:xfrm>
            <a:off x="6153912" y="3355848"/>
            <a:ext cx="5303520" cy="2011680"/>
          </a:xfrm>
          <a:prstGeom prst="rect">
            <a:avLst/>
          </a:prstGeom>
          <a:solidFill>
            <a:srgbClr val="F9F8FC"/>
          </a:solidFill>
          <a:ln cap="flat" cmpd="sng" w="9525">
            <a:solidFill>
              <a:srgbClr val="F9F8F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6" name="Google Shape;286;p13"/>
          <p:cNvSpPr/>
          <p:nvPr/>
        </p:nvSpPr>
        <p:spPr>
          <a:xfrm>
            <a:off x="6153912" y="3355848"/>
            <a:ext cx="73152" cy="2011680"/>
          </a:xfrm>
          <a:prstGeom prst="rect">
            <a:avLst/>
          </a:prstGeom>
          <a:solidFill>
            <a:srgbClr val="F93F41"/>
          </a:solidFill>
          <a:ln cap="flat" cmpd="sng" w="9525">
            <a:solidFill>
              <a:srgbClr val="F93F4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7" name="Google Shape;287;p13"/>
          <p:cNvSpPr/>
          <p:nvPr/>
        </p:nvSpPr>
        <p:spPr>
          <a:xfrm>
            <a:off x="6355080" y="3520440"/>
            <a:ext cx="4919472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93F41"/>
              </a:buClr>
              <a:buSzPts val="1820"/>
              <a:buFont typeface="Arial"/>
              <a:buNone/>
            </a:pPr>
            <a:r>
              <a:rPr b="1" i="0" lang="en-US" sz="1820" u="none" cap="none" strike="noStrike">
                <a:solidFill>
                  <a:srgbClr val="F93F41"/>
                </a:solidFill>
                <a:latin typeface="Arial"/>
                <a:ea typeface="Arial"/>
                <a:cs typeface="Arial"/>
                <a:sym typeface="Arial"/>
              </a:rPr>
              <a:t>Аппаратная часть</a:t>
            </a:r>
            <a:endParaRPr b="0" i="0" sz="182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8" name="Google Shape;288;p13"/>
          <p:cNvSpPr/>
          <p:nvPr/>
        </p:nvSpPr>
        <p:spPr>
          <a:xfrm>
            <a:off x="6355080" y="3959352"/>
            <a:ext cx="4892040" cy="1280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C3945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3C3945"/>
                </a:solidFill>
                <a:latin typeface="Arial"/>
                <a:ea typeface="Arial"/>
                <a:cs typeface="Arial"/>
                <a:sym typeface="Arial"/>
              </a:rPr>
              <a:t>Прототип умножения матрицы на вектор в FPGA для оценки ускорения и стоимости логики.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14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7E10FF"/>
          </a:solidFill>
          <a:ln cap="flat" cmpd="sng" w="9525">
            <a:solidFill>
              <a:srgbClr val="7E1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14"/>
          <p:cNvSpPr/>
          <p:nvPr/>
        </p:nvSpPr>
        <p:spPr>
          <a:xfrm>
            <a:off x="502920" y="128016"/>
            <a:ext cx="10698480" cy="4297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50"/>
              <a:buFont typeface="Arial"/>
              <a:buNone/>
            </a:pPr>
            <a:r>
              <a:rPr b="1" i="0" lang="en-US" sz="22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4.1. </a:t>
            </a:r>
            <a:r>
              <a:rPr b="1" lang="en-US" sz="2250">
                <a:solidFill>
                  <a:srgbClr val="FFFFFF"/>
                </a:solidFill>
              </a:rPr>
              <a:t>Ц</a:t>
            </a:r>
            <a:r>
              <a:rPr b="1" i="0" lang="en-US" sz="22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ифры из статьи </a:t>
            </a:r>
            <a:r>
              <a:rPr b="1" lang="en-US" sz="2250">
                <a:solidFill>
                  <a:schemeClr val="lt1"/>
                </a:solidFill>
              </a:rPr>
              <a:t>Perplexity на WikiText-2</a:t>
            </a:r>
            <a:endParaRPr b="0" i="0" sz="22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6" name="Google Shape;296;p14"/>
          <p:cNvSpPr/>
          <p:nvPr/>
        </p:nvSpPr>
        <p:spPr>
          <a:xfrm>
            <a:off x="10698480" y="256032"/>
            <a:ext cx="978408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EBDAFF"/>
              </a:buClr>
              <a:buSzPts val="1080"/>
              <a:buFont typeface="Arial"/>
              <a:buNone/>
            </a:pPr>
            <a:r>
              <a:rPr b="1" i="0" lang="en-US" sz="1080" u="none" cap="none" strike="noStrike">
                <a:solidFill>
                  <a:srgbClr val="EBDAFF"/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  <a:endParaRPr b="0" i="0" sz="108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297" name="Google Shape;297;p14"/>
          <p:cNvCxnSpPr/>
          <p:nvPr/>
        </p:nvCxnSpPr>
        <p:spPr>
          <a:xfrm>
            <a:off x="502920" y="6510528"/>
            <a:ext cx="11183112" cy="0"/>
          </a:xfrm>
          <a:prstGeom prst="straightConnector1">
            <a:avLst/>
          </a:prstGeom>
          <a:noFill/>
          <a:ln cap="flat" cmpd="sng" w="10150">
            <a:solidFill>
              <a:srgbClr val="DAD6E2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98" name="Google Shape;298;p14"/>
          <p:cNvSpPr/>
          <p:nvPr/>
        </p:nvSpPr>
        <p:spPr>
          <a:xfrm>
            <a:off x="502920" y="6574536"/>
            <a:ext cx="9966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66273"/>
              </a:buClr>
              <a:buSzPts val="1020"/>
              <a:buFont typeface="Arial"/>
              <a:buNone/>
            </a:pPr>
            <a:r>
              <a:rPr b="0" i="0" lang="en-US" sz="1020" u="none" cap="none" strike="noStrike">
                <a:solidFill>
                  <a:srgbClr val="666273"/>
                </a:solidFill>
                <a:latin typeface="Arial"/>
                <a:ea typeface="Arial"/>
                <a:cs typeface="Arial"/>
                <a:sym typeface="Arial"/>
              </a:rPr>
              <a:t>Источник: статья, с. 7 · таблица 2</a:t>
            </a:r>
            <a:endParaRPr b="0" i="0" sz="102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9" name="Google Shape;299;p14"/>
          <p:cNvSpPr/>
          <p:nvPr/>
        </p:nvSpPr>
        <p:spPr>
          <a:xfrm>
            <a:off x="11109960" y="6565392"/>
            <a:ext cx="566928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7E10FF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7E10FF"/>
                </a:solidFill>
                <a:latin typeface="Arial"/>
                <a:ea typeface="Arial"/>
                <a:cs typeface="Arial"/>
                <a:sym typeface="Arial"/>
              </a:rPr>
              <a:t>12/19</a:t>
            </a:r>
            <a:endParaRPr b="0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0" name="Google Shape;300;p14"/>
          <p:cNvSpPr/>
          <p:nvPr/>
        </p:nvSpPr>
        <p:spPr>
          <a:xfrm>
            <a:off x="722376" y="1033272"/>
            <a:ext cx="10698480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C3945"/>
              </a:buClr>
              <a:buSzPts val="1700"/>
              <a:buFont typeface="Arial"/>
              <a:buNone/>
            </a:pPr>
            <a:r>
              <a:rPr b="0" i="0" lang="en-US" sz="1700" u="none" cap="none" strike="noStrike">
                <a:solidFill>
                  <a:srgbClr val="3C3945"/>
                </a:solidFill>
                <a:latin typeface="Arial"/>
                <a:ea typeface="Arial"/>
                <a:cs typeface="Arial"/>
                <a:sym typeface="Arial"/>
              </a:rPr>
              <a:t>Меньше = лучше. Сжатие увеличивает perplexity, но рост часто умеренный.</a:t>
            </a:r>
            <a:endParaRPr b="0" i="0" sz="1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1" name="Google Shape;301;p14"/>
          <p:cNvSpPr/>
          <p:nvPr/>
        </p:nvSpPr>
        <p:spPr>
          <a:xfrm>
            <a:off x="722376" y="1783080"/>
            <a:ext cx="10716768" cy="539496"/>
          </a:xfrm>
          <a:prstGeom prst="rect">
            <a:avLst/>
          </a:prstGeom>
          <a:solidFill>
            <a:srgbClr val="7E10FF"/>
          </a:solidFill>
          <a:ln cap="flat" cmpd="sng" w="9525">
            <a:solidFill>
              <a:srgbClr val="7E1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14"/>
          <p:cNvSpPr/>
          <p:nvPr/>
        </p:nvSpPr>
        <p:spPr>
          <a:xfrm>
            <a:off x="886968" y="1847088"/>
            <a:ext cx="2487168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Метод</a:t>
            </a:r>
            <a:endParaRPr b="0" i="0" sz="15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3" name="Google Shape;303;p14"/>
          <p:cNvSpPr/>
          <p:nvPr/>
        </p:nvSpPr>
        <p:spPr>
          <a:xfrm>
            <a:off x="3493008" y="1847088"/>
            <a:ext cx="1106424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Биты</a:t>
            </a:r>
            <a:endParaRPr b="0" i="0" sz="15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4" name="Google Shape;304;p14"/>
          <p:cNvSpPr/>
          <p:nvPr/>
        </p:nvSpPr>
        <p:spPr>
          <a:xfrm>
            <a:off x="4974336" y="1847088"/>
            <a:ext cx="192024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Llama 2 7B</a:t>
            </a:r>
            <a:endParaRPr b="0" i="0" sz="15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5" name="Google Shape;305;p14"/>
          <p:cNvSpPr/>
          <p:nvPr/>
        </p:nvSpPr>
        <p:spPr>
          <a:xfrm>
            <a:off x="7260336" y="1847088"/>
            <a:ext cx="1773936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Llama 3 8B</a:t>
            </a:r>
            <a:endParaRPr b="0" i="0" sz="15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6" name="Google Shape;306;p14"/>
          <p:cNvSpPr/>
          <p:nvPr/>
        </p:nvSpPr>
        <p:spPr>
          <a:xfrm>
            <a:off x="9235440" y="1847088"/>
            <a:ext cx="178308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Llama 3 70B</a:t>
            </a:r>
            <a:endParaRPr b="0" i="0" sz="15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7" name="Google Shape;307;p14"/>
          <p:cNvSpPr/>
          <p:nvPr/>
        </p:nvSpPr>
        <p:spPr>
          <a:xfrm>
            <a:off x="722376" y="2395728"/>
            <a:ext cx="10716768" cy="539496"/>
          </a:xfrm>
          <a:prstGeom prst="rect">
            <a:avLst/>
          </a:prstGeom>
          <a:solidFill>
            <a:srgbClr val="F5F2FA"/>
          </a:solidFill>
          <a:ln cap="flat" cmpd="sng" w="9525">
            <a:solidFill>
              <a:srgbClr val="F5F2F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14"/>
          <p:cNvSpPr/>
          <p:nvPr/>
        </p:nvSpPr>
        <p:spPr>
          <a:xfrm>
            <a:off x="886968" y="2459736"/>
            <a:ext cx="2487168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C3945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3C3945"/>
                </a:solidFill>
                <a:latin typeface="Arial"/>
                <a:ea typeface="Arial"/>
                <a:cs typeface="Arial"/>
                <a:sym typeface="Arial"/>
              </a:rPr>
              <a:t>FP16 baseline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9" name="Google Shape;309;p14"/>
          <p:cNvSpPr/>
          <p:nvPr/>
        </p:nvSpPr>
        <p:spPr>
          <a:xfrm>
            <a:off x="3493008" y="2459736"/>
            <a:ext cx="1106424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3C3945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3C3945"/>
                </a:solidFill>
                <a:latin typeface="Arial"/>
                <a:ea typeface="Arial"/>
                <a:cs typeface="Arial"/>
                <a:sym typeface="Arial"/>
              </a:rPr>
              <a:t>16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0" name="Google Shape;310;p14"/>
          <p:cNvSpPr/>
          <p:nvPr/>
        </p:nvSpPr>
        <p:spPr>
          <a:xfrm>
            <a:off x="4974336" y="2459736"/>
            <a:ext cx="192024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3C3945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3C3945"/>
                </a:solidFill>
                <a:latin typeface="Arial"/>
                <a:ea typeface="Arial"/>
                <a:cs typeface="Arial"/>
                <a:sym typeface="Arial"/>
              </a:rPr>
              <a:t>5,5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1" name="Google Shape;311;p14"/>
          <p:cNvSpPr/>
          <p:nvPr/>
        </p:nvSpPr>
        <p:spPr>
          <a:xfrm>
            <a:off x="7260336" y="2459736"/>
            <a:ext cx="1773936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3C3945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3C3945"/>
                </a:solidFill>
                <a:latin typeface="Arial"/>
                <a:ea typeface="Arial"/>
                <a:cs typeface="Arial"/>
                <a:sym typeface="Arial"/>
              </a:rPr>
              <a:t>6,1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2" name="Google Shape;312;p14"/>
          <p:cNvSpPr/>
          <p:nvPr/>
        </p:nvSpPr>
        <p:spPr>
          <a:xfrm>
            <a:off x="9235440" y="2459736"/>
            <a:ext cx="178308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3C3945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3C3945"/>
                </a:solidFill>
                <a:latin typeface="Arial"/>
                <a:ea typeface="Arial"/>
                <a:cs typeface="Arial"/>
                <a:sym typeface="Arial"/>
              </a:rPr>
              <a:t>2,9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3" name="Google Shape;313;p14"/>
          <p:cNvSpPr/>
          <p:nvPr/>
        </p:nvSpPr>
        <p:spPr>
          <a:xfrm>
            <a:off x="722376" y="3008376"/>
            <a:ext cx="10716768" cy="539496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14"/>
          <p:cNvSpPr/>
          <p:nvPr/>
        </p:nvSpPr>
        <p:spPr>
          <a:xfrm>
            <a:off x="886968" y="3072384"/>
            <a:ext cx="2487168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C3945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3C3945"/>
                </a:solidFill>
                <a:latin typeface="Arial"/>
                <a:ea typeface="Arial"/>
                <a:cs typeface="Arial"/>
                <a:sym typeface="Arial"/>
              </a:rPr>
              <a:t>SeedLM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5" name="Google Shape;315;p14"/>
          <p:cNvSpPr/>
          <p:nvPr/>
        </p:nvSpPr>
        <p:spPr>
          <a:xfrm>
            <a:off x="3493008" y="3072384"/>
            <a:ext cx="1106424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3C3945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3C3945"/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6" name="Google Shape;316;p14"/>
          <p:cNvSpPr/>
          <p:nvPr/>
        </p:nvSpPr>
        <p:spPr>
          <a:xfrm>
            <a:off x="4974336" y="3072384"/>
            <a:ext cx="192024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3C3945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3C3945"/>
                </a:solidFill>
                <a:latin typeface="Arial"/>
                <a:ea typeface="Arial"/>
                <a:cs typeface="Arial"/>
                <a:sym typeface="Arial"/>
              </a:rPr>
              <a:t>5,7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7" name="Google Shape;317;p14"/>
          <p:cNvSpPr/>
          <p:nvPr/>
        </p:nvSpPr>
        <p:spPr>
          <a:xfrm>
            <a:off x="7260336" y="3072384"/>
            <a:ext cx="1773936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3C3945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3C3945"/>
                </a:solidFill>
                <a:latin typeface="Arial"/>
                <a:ea typeface="Arial"/>
                <a:cs typeface="Arial"/>
                <a:sym typeface="Arial"/>
              </a:rPr>
              <a:t>7,0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8" name="Google Shape;318;p14"/>
          <p:cNvSpPr/>
          <p:nvPr/>
        </p:nvSpPr>
        <p:spPr>
          <a:xfrm>
            <a:off x="9235440" y="3072384"/>
            <a:ext cx="178308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3C3945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3C3945"/>
                </a:solidFill>
                <a:latin typeface="Arial"/>
                <a:ea typeface="Arial"/>
                <a:cs typeface="Arial"/>
                <a:sym typeface="Arial"/>
              </a:rPr>
              <a:t>3,8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9" name="Google Shape;319;p14"/>
          <p:cNvSpPr/>
          <p:nvPr/>
        </p:nvSpPr>
        <p:spPr>
          <a:xfrm>
            <a:off x="722376" y="3621024"/>
            <a:ext cx="10716768" cy="539496"/>
          </a:xfrm>
          <a:prstGeom prst="rect">
            <a:avLst/>
          </a:prstGeom>
          <a:solidFill>
            <a:srgbClr val="F5F2FA"/>
          </a:solidFill>
          <a:ln cap="flat" cmpd="sng" w="9525">
            <a:solidFill>
              <a:srgbClr val="F5F2F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14"/>
          <p:cNvSpPr/>
          <p:nvPr/>
        </p:nvSpPr>
        <p:spPr>
          <a:xfrm>
            <a:off x="886968" y="3685032"/>
            <a:ext cx="2487168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C3945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3C3945"/>
                </a:solidFill>
                <a:latin typeface="Arial"/>
                <a:ea typeface="Arial"/>
                <a:cs typeface="Arial"/>
                <a:sym typeface="Arial"/>
              </a:rPr>
              <a:t>AWQ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1" name="Google Shape;321;p14"/>
          <p:cNvSpPr/>
          <p:nvPr/>
        </p:nvSpPr>
        <p:spPr>
          <a:xfrm>
            <a:off x="3493008" y="3685032"/>
            <a:ext cx="1106424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3C3945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3C3945"/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2" name="Google Shape;322;p14"/>
          <p:cNvSpPr/>
          <p:nvPr/>
        </p:nvSpPr>
        <p:spPr>
          <a:xfrm>
            <a:off x="4974336" y="3685032"/>
            <a:ext cx="192024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3C3945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3C3945"/>
                </a:solidFill>
                <a:latin typeface="Arial"/>
                <a:ea typeface="Arial"/>
                <a:cs typeface="Arial"/>
                <a:sym typeface="Arial"/>
              </a:rPr>
              <a:t>5,8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3" name="Google Shape;323;p14"/>
          <p:cNvSpPr/>
          <p:nvPr/>
        </p:nvSpPr>
        <p:spPr>
          <a:xfrm>
            <a:off x="7260336" y="3685032"/>
            <a:ext cx="1773936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3C3945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3C3945"/>
                </a:solidFill>
                <a:latin typeface="Arial"/>
                <a:ea typeface="Arial"/>
                <a:cs typeface="Arial"/>
                <a:sym typeface="Arial"/>
              </a:rPr>
              <a:t>7,1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4" name="Google Shape;324;p14"/>
          <p:cNvSpPr/>
          <p:nvPr/>
        </p:nvSpPr>
        <p:spPr>
          <a:xfrm>
            <a:off x="9235440" y="3685032"/>
            <a:ext cx="178308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3C3945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3C3945"/>
                </a:solidFill>
                <a:latin typeface="Arial"/>
                <a:ea typeface="Arial"/>
                <a:cs typeface="Arial"/>
                <a:sym typeface="Arial"/>
              </a:rPr>
              <a:t>4,7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5" name="Google Shape;325;p14"/>
          <p:cNvSpPr/>
          <p:nvPr/>
        </p:nvSpPr>
        <p:spPr>
          <a:xfrm>
            <a:off x="722376" y="4233672"/>
            <a:ext cx="10716768" cy="539496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14"/>
          <p:cNvSpPr/>
          <p:nvPr/>
        </p:nvSpPr>
        <p:spPr>
          <a:xfrm>
            <a:off x="886968" y="4297680"/>
            <a:ext cx="2487168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C3945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3C3945"/>
                </a:solidFill>
                <a:latin typeface="Arial"/>
                <a:ea typeface="Arial"/>
                <a:cs typeface="Arial"/>
                <a:sym typeface="Arial"/>
              </a:rPr>
              <a:t>SeedLM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7" name="Google Shape;327;p14"/>
          <p:cNvSpPr/>
          <p:nvPr/>
        </p:nvSpPr>
        <p:spPr>
          <a:xfrm>
            <a:off x="3493008" y="4297680"/>
            <a:ext cx="1106424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3C3945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3C3945"/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8" name="Google Shape;328;p14"/>
          <p:cNvSpPr/>
          <p:nvPr/>
        </p:nvSpPr>
        <p:spPr>
          <a:xfrm>
            <a:off x="4974336" y="4297680"/>
            <a:ext cx="192024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3C3945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3C3945"/>
                </a:solidFill>
                <a:latin typeface="Arial"/>
                <a:ea typeface="Arial"/>
                <a:cs typeface="Arial"/>
                <a:sym typeface="Arial"/>
              </a:rPr>
              <a:t>6,6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9" name="Google Shape;329;p14"/>
          <p:cNvSpPr/>
          <p:nvPr/>
        </p:nvSpPr>
        <p:spPr>
          <a:xfrm>
            <a:off x="7260336" y="4297680"/>
            <a:ext cx="1773936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3C3945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3C3945"/>
                </a:solidFill>
                <a:latin typeface="Arial"/>
                <a:ea typeface="Arial"/>
                <a:cs typeface="Arial"/>
                <a:sym typeface="Arial"/>
              </a:rPr>
              <a:t>10,1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0" name="Google Shape;330;p14"/>
          <p:cNvSpPr/>
          <p:nvPr/>
        </p:nvSpPr>
        <p:spPr>
          <a:xfrm>
            <a:off x="9235440" y="4297680"/>
            <a:ext cx="178308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3C3945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3C3945"/>
                </a:solidFill>
                <a:latin typeface="Arial"/>
                <a:ea typeface="Arial"/>
                <a:cs typeface="Arial"/>
                <a:sym typeface="Arial"/>
              </a:rPr>
              <a:t>5,7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1" name="Google Shape;331;p14"/>
          <p:cNvSpPr/>
          <p:nvPr/>
        </p:nvSpPr>
        <p:spPr>
          <a:xfrm>
            <a:off x="722376" y="4846320"/>
            <a:ext cx="10716768" cy="539496"/>
          </a:xfrm>
          <a:prstGeom prst="rect">
            <a:avLst/>
          </a:prstGeom>
          <a:solidFill>
            <a:srgbClr val="F5F2FA"/>
          </a:solidFill>
          <a:ln cap="flat" cmpd="sng" w="9525">
            <a:solidFill>
              <a:srgbClr val="F5F2F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14"/>
          <p:cNvSpPr/>
          <p:nvPr/>
        </p:nvSpPr>
        <p:spPr>
          <a:xfrm>
            <a:off x="886968" y="4910328"/>
            <a:ext cx="2487168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C3945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3C3945"/>
                </a:solidFill>
                <a:latin typeface="Arial"/>
                <a:ea typeface="Arial"/>
                <a:cs typeface="Arial"/>
                <a:sym typeface="Arial"/>
              </a:rPr>
              <a:t>AWQ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3" name="Google Shape;333;p14"/>
          <p:cNvSpPr/>
          <p:nvPr/>
        </p:nvSpPr>
        <p:spPr>
          <a:xfrm>
            <a:off x="3493008" y="4910328"/>
            <a:ext cx="1106424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3C3945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3C3945"/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4" name="Google Shape;334;p14"/>
          <p:cNvSpPr/>
          <p:nvPr/>
        </p:nvSpPr>
        <p:spPr>
          <a:xfrm>
            <a:off x="4974336" y="4910328"/>
            <a:ext cx="192024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3C3945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3C3945"/>
                </a:solidFill>
                <a:latin typeface="Arial"/>
                <a:ea typeface="Arial"/>
                <a:cs typeface="Arial"/>
                <a:sym typeface="Arial"/>
              </a:rPr>
              <a:t>15,6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5" name="Google Shape;335;p14"/>
          <p:cNvSpPr/>
          <p:nvPr/>
        </p:nvSpPr>
        <p:spPr>
          <a:xfrm>
            <a:off x="7260336" y="4910328"/>
            <a:ext cx="1773936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3C3945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3C3945"/>
                </a:solidFill>
                <a:latin typeface="Arial"/>
                <a:ea typeface="Arial"/>
                <a:cs typeface="Arial"/>
                <a:sym typeface="Arial"/>
              </a:rPr>
              <a:t>11,8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6" name="Google Shape;336;p14"/>
          <p:cNvSpPr/>
          <p:nvPr/>
        </p:nvSpPr>
        <p:spPr>
          <a:xfrm>
            <a:off x="9235440" y="4910328"/>
            <a:ext cx="178308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3C3945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3C3945"/>
                </a:solidFill>
                <a:latin typeface="Arial"/>
                <a:ea typeface="Arial"/>
                <a:cs typeface="Arial"/>
                <a:sym typeface="Arial"/>
              </a:rPr>
              <a:t>11,6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15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7E10FF"/>
          </a:solidFill>
          <a:ln cap="flat" cmpd="sng" w="9525">
            <a:solidFill>
              <a:srgbClr val="7E1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3" name="Google Shape;343;p15"/>
          <p:cNvSpPr/>
          <p:nvPr/>
        </p:nvSpPr>
        <p:spPr>
          <a:xfrm>
            <a:off x="502920" y="128016"/>
            <a:ext cx="10698480" cy="4297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50"/>
              <a:buFont typeface="Arial"/>
              <a:buNone/>
            </a:pPr>
            <a:r>
              <a:rPr b="1" i="0" lang="en-US" sz="22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4.1. </a:t>
            </a:r>
            <a:r>
              <a:rPr b="1" lang="en-US" sz="2250">
                <a:solidFill>
                  <a:srgbClr val="FFFFFF"/>
                </a:solidFill>
              </a:rPr>
              <a:t>Н</a:t>
            </a:r>
            <a:r>
              <a:rPr b="1" i="0" lang="en-US" sz="22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асколько упало качество </a:t>
            </a:r>
            <a:r>
              <a:rPr b="1" lang="en-US" sz="2250">
                <a:solidFill>
                  <a:schemeClr val="lt1"/>
                </a:solidFill>
              </a:rPr>
              <a:t>Llama 3 70B</a:t>
            </a:r>
            <a:endParaRPr b="0" i="0" sz="22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4" name="Google Shape;344;p15"/>
          <p:cNvSpPr/>
          <p:nvPr/>
        </p:nvSpPr>
        <p:spPr>
          <a:xfrm>
            <a:off x="10698480" y="256032"/>
            <a:ext cx="978408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EBDAFF"/>
              </a:buClr>
              <a:buSzPts val="1080"/>
              <a:buFont typeface="Arial"/>
              <a:buNone/>
            </a:pPr>
            <a:r>
              <a:rPr b="1" i="0" lang="en-US" sz="1080" u="none" cap="none" strike="noStrike">
                <a:solidFill>
                  <a:srgbClr val="EBDAFF"/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  <a:endParaRPr b="0" i="0" sz="108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345" name="Google Shape;345;p15"/>
          <p:cNvCxnSpPr/>
          <p:nvPr/>
        </p:nvCxnSpPr>
        <p:spPr>
          <a:xfrm>
            <a:off x="502920" y="6510528"/>
            <a:ext cx="11183112" cy="0"/>
          </a:xfrm>
          <a:prstGeom prst="straightConnector1">
            <a:avLst/>
          </a:prstGeom>
          <a:noFill/>
          <a:ln cap="flat" cmpd="sng" w="10150">
            <a:solidFill>
              <a:srgbClr val="DAD6E2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46" name="Google Shape;346;p15"/>
          <p:cNvSpPr/>
          <p:nvPr/>
        </p:nvSpPr>
        <p:spPr>
          <a:xfrm>
            <a:off x="502920" y="6574536"/>
            <a:ext cx="9966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66273"/>
              </a:buClr>
              <a:buSzPts val="1020"/>
              <a:buFont typeface="Arial"/>
              <a:buNone/>
            </a:pPr>
            <a:r>
              <a:rPr b="0" i="0" lang="en-US" sz="1020" u="none" cap="none" strike="noStrike">
                <a:solidFill>
                  <a:srgbClr val="666273"/>
                </a:solidFill>
                <a:latin typeface="Arial"/>
                <a:ea typeface="Arial"/>
                <a:cs typeface="Arial"/>
                <a:sym typeface="Arial"/>
              </a:rPr>
              <a:t>Источник: статья, с. 8</a:t>
            </a:r>
            <a:r>
              <a:rPr lang="en-US" sz="1020">
                <a:solidFill>
                  <a:srgbClr val="666273"/>
                </a:solidFill>
              </a:rPr>
              <a:t>, т</a:t>
            </a:r>
            <a:r>
              <a:rPr b="0" i="0" lang="en-US" sz="1020" u="none" cap="none" strike="noStrike">
                <a:solidFill>
                  <a:srgbClr val="666273"/>
                </a:solidFill>
                <a:latin typeface="Arial"/>
                <a:ea typeface="Arial"/>
                <a:cs typeface="Arial"/>
                <a:sym typeface="Arial"/>
              </a:rPr>
              <a:t>аблица 3</a:t>
            </a:r>
            <a:endParaRPr b="0" i="0" sz="102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7" name="Google Shape;347;p15"/>
          <p:cNvSpPr/>
          <p:nvPr/>
        </p:nvSpPr>
        <p:spPr>
          <a:xfrm>
            <a:off x="11109960" y="6565392"/>
            <a:ext cx="566928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7E10FF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7E10FF"/>
                </a:solidFill>
                <a:latin typeface="Arial"/>
                <a:ea typeface="Arial"/>
                <a:cs typeface="Arial"/>
                <a:sym typeface="Arial"/>
              </a:rPr>
              <a:t>13/19</a:t>
            </a:r>
            <a:endParaRPr b="0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8" name="Google Shape;348;p15"/>
          <p:cNvSpPr/>
          <p:nvPr/>
        </p:nvSpPr>
        <p:spPr>
          <a:xfrm>
            <a:off x="685800" y="1307592"/>
            <a:ext cx="10808208" cy="731520"/>
          </a:xfrm>
          <a:prstGeom prst="rect">
            <a:avLst/>
          </a:prstGeom>
          <a:solidFill>
            <a:srgbClr val="F8F7FB"/>
          </a:solidFill>
          <a:ln cap="flat" cmpd="sng" w="9525">
            <a:solidFill>
              <a:srgbClr val="F8F7F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9" name="Google Shape;349;p15"/>
          <p:cNvSpPr/>
          <p:nvPr/>
        </p:nvSpPr>
        <p:spPr>
          <a:xfrm>
            <a:off x="950976" y="1472184"/>
            <a:ext cx="2157984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131A"/>
              </a:buClr>
              <a:buSzPts val="2300"/>
              <a:buFont typeface="Arial"/>
              <a:buNone/>
            </a:pPr>
            <a:r>
              <a:rPr b="1" i="0" lang="en-US" sz="2300" u="none" cap="none" strike="noStrike">
                <a:solidFill>
                  <a:srgbClr val="14131A"/>
                </a:solidFill>
                <a:latin typeface="Arial"/>
                <a:ea typeface="Arial"/>
                <a:cs typeface="Arial"/>
                <a:sym typeface="Arial"/>
              </a:rPr>
              <a:t>FP16</a:t>
            </a:r>
            <a:endParaRPr b="0" i="0" sz="23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0" name="Google Shape;350;p15"/>
          <p:cNvSpPr/>
          <p:nvPr/>
        </p:nvSpPr>
        <p:spPr>
          <a:xfrm>
            <a:off x="3136392" y="1508760"/>
            <a:ext cx="2286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131A"/>
              </a:buClr>
              <a:buSzPts val="2000"/>
              <a:buFont typeface="Arial"/>
              <a:buNone/>
            </a:pPr>
            <a:r>
              <a:rPr b="0" i="0" lang="en-US" sz="2000" u="none" cap="none" strike="noStrike">
                <a:solidFill>
                  <a:srgbClr val="14131A"/>
                </a:solidFill>
                <a:latin typeface="Arial"/>
                <a:ea typeface="Arial"/>
                <a:cs typeface="Arial"/>
                <a:sym typeface="Arial"/>
              </a:rPr>
              <a:t>16 бит</a:t>
            </a:r>
            <a:endParaRPr b="0" i="0" sz="2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1" name="Google Shape;351;p15"/>
          <p:cNvSpPr/>
          <p:nvPr/>
        </p:nvSpPr>
        <p:spPr>
          <a:xfrm>
            <a:off x="5577840" y="1417320"/>
            <a:ext cx="2423160" cy="4846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E10FF"/>
              </a:buClr>
              <a:buSzPts val="2700"/>
              <a:buFont typeface="Arial"/>
              <a:buNone/>
            </a:pPr>
            <a:r>
              <a:rPr b="1" i="0" lang="en-US" sz="2700" u="none" cap="none" strike="noStrike">
                <a:solidFill>
                  <a:srgbClr val="7E10FF"/>
                </a:solidFill>
                <a:latin typeface="Arial"/>
                <a:ea typeface="Arial"/>
                <a:cs typeface="Arial"/>
                <a:sym typeface="Arial"/>
              </a:rPr>
              <a:t>79,51%</a:t>
            </a:r>
            <a:endParaRPr b="0" i="0" sz="2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2" name="Google Shape;352;p15"/>
          <p:cNvSpPr/>
          <p:nvPr/>
        </p:nvSpPr>
        <p:spPr>
          <a:xfrm>
            <a:off x="9089136" y="1490472"/>
            <a:ext cx="1572768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3C3945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  <a:r>
              <a:rPr b="1" lang="en-US" sz="1500">
                <a:solidFill>
                  <a:schemeClr val="dk1"/>
                </a:solidFill>
              </a:rPr>
              <a:t>x</a:t>
            </a:r>
            <a:endParaRPr b="0" i="0" sz="2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3" name="Google Shape;353;p15"/>
          <p:cNvSpPr/>
          <p:nvPr/>
        </p:nvSpPr>
        <p:spPr>
          <a:xfrm>
            <a:off x="685800" y="2221992"/>
            <a:ext cx="10808208" cy="731520"/>
          </a:xfrm>
          <a:prstGeom prst="rect">
            <a:avLst/>
          </a:prstGeom>
          <a:solidFill>
            <a:srgbClr val="E9F1FF"/>
          </a:solidFill>
          <a:ln cap="flat" cmpd="sng" w="9525">
            <a:solidFill>
              <a:srgbClr val="E9F1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4" name="Google Shape;354;p15"/>
          <p:cNvSpPr/>
          <p:nvPr/>
        </p:nvSpPr>
        <p:spPr>
          <a:xfrm>
            <a:off x="950976" y="2386584"/>
            <a:ext cx="2157984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69FF"/>
              </a:buClr>
              <a:buSzPts val="2300"/>
              <a:buFont typeface="Arial"/>
              <a:buNone/>
            </a:pPr>
            <a:r>
              <a:rPr b="1" i="0" lang="en-US" sz="2300" u="none" cap="none" strike="noStrike">
                <a:solidFill>
                  <a:srgbClr val="0069FF"/>
                </a:solidFill>
                <a:latin typeface="Arial"/>
                <a:ea typeface="Arial"/>
                <a:cs typeface="Arial"/>
                <a:sym typeface="Arial"/>
              </a:rPr>
              <a:t>SeedLM</a:t>
            </a:r>
            <a:endParaRPr b="0" i="0" sz="23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5" name="Google Shape;355;p15"/>
          <p:cNvSpPr/>
          <p:nvPr/>
        </p:nvSpPr>
        <p:spPr>
          <a:xfrm>
            <a:off x="3136392" y="2423160"/>
            <a:ext cx="2286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131A"/>
              </a:buClr>
              <a:buSzPts val="2000"/>
              <a:buFont typeface="Arial"/>
              <a:buNone/>
            </a:pPr>
            <a:r>
              <a:rPr b="0" i="0" lang="en-US" sz="2000" u="none" cap="none" strike="noStrike">
                <a:solidFill>
                  <a:srgbClr val="14131A"/>
                </a:solidFill>
                <a:latin typeface="Arial"/>
                <a:ea typeface="Arial"/>
                <a:cs typeface="Arial"/>
                <a:sym typeface="Arial"/>
              </a:rPr>
              <a:t>4 бита</a:t>
            </a:r>
            <a:endParaRPr b="0" i="0" sz="2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6" name="Google Shape;356;p15"/>
          <p:cNvSpPr/>
          <p:nvPr/>
        </p:nvSpPr>
        <p:spPr>
          <a:xfrm>
            <a:off x="5577840" y="2331720"/>
            <a:ext cx="2423160" cy="4846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E10FF"/>
              </a:buClr>
              <a:buSzPts val="2700"/>
              <a:buFont typeface="Arial"/>
              <a:buNone/>
            </a:pPr>
            <a:r>
              <a:rPr b="1" i="0" lang="en-US" sz="2700" u="none" cap="none" strike="noStrike">
                <a:solidFill>
                  <a:srgbClr val="7E10FF"/>
                </a:solidFill>
                <a:latin typeface="Arial"/>
                <a:ea typeface="Arial"/>
                <a:cs typeface="Arial"/>
                <a:sym typeface="Arial"/>
              </a:rPr>
              <a:t>78,06%</a:t>
            </a:r>
            <a:endParaRPr b="0" i="0" sz="2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7" name="Google Shape;357;p15"/>
          <p:cNvSpPr/>
          <p:nvPr/>
        </p:nvSpPr>
        <p:spPr>
          <a:xfrm>
            <a:off x="9089136" y="2404872"/>
            <a:ext cx="1572768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3C3945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  <a:r>
              <a:rPr b="1" lang="en-US" sz="1500">
                <a:solidFill>
                  <a:schemeClr val="dk1"/>
                </a:solidFill>
              </a:rPr>
              <a:t>x</a:t>
            </a:r>
            <a:endParaRPr b="0" i="0" sz="2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8" name="Google Shape;358;p15"/>
          <p:cNvSpPr/>
          <p:nvPr/>
        </p:nvSpPr>
        <p:spPr>
          <a:xfrm>
            <a:off x="685800" y="3136392"/>
            <a:ext cx="10808208" cy="731520"/>
          </a:xfrm>
          <a:prstGeom prst="rect">
            <a:avLst/>
          </a:prstGeom>
          <a:solidFill>
            <a:srgbClr val="F8F7FB"/>
          </a:solidFill>
          <a:ln cap="flat" cmpd="sng" w="9525">
            <a:solidFill>
              <a:srgbClr val="F8F7F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9" name="Google Shape;359;p15"/>
          <p:cNvSpPr/>
          <p:nvPr/>
        </p:nvSpPr>
        <p:spPr>
          <a:xfrm>
            <a:off x="950976" y="3300984"/>
            <a:ext cx="2157984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131A"/>
              </a:buClr>
              <a:buSzPts val="2300"/>
              <a:buFont typeface="Arial"/>
              <a:buNone/>
            </a:pPr>
            <a:r>
              <a:rPr b="1" i="0" lang="en-US" sz="2300" u="none" cap="none" strike="noStrike">
                <a:solidFill>
                  <a:srgbClr val="14131A"/>
                </a:solidFill>
                <a:latin typeface="Arial"/>
                <a:ea typeface="Arial"/>
                <a:cs typeface="Arial"/>
                <a:sym typeface="Arial"/>
              </a:rPr>
              <a:t>SeedLM</a:t>
            </a:r>
            <a:endParaRPr b="0" i="0" sz="23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0" name="Google Shape;360;p15"/>
          <p:cNvSpPr/>
          <p:nvPr/>
        </p:nvSpPr>
        <p:spPr>
          <a:xfrm>
            <a:off x="3136392" y="3337560"/>
            <a:ext cx="2286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131A"/>
              </a:buClr>
              <a:buSzPts val="2000"/>
              <a:buFont typeface="Arial"/>
              <a:buNone/>
            </a:pPr>
            <a:r>
              <a:rPr b="0" i="0" lang="en-US" sz="2000" u="none" cap="none" strike="noStrike">
                <a:solidFill>
                  <a:srgbClr val="14131A"/>
                </a:solidFill>
                <a:latin typeface="Arial"/>
                <a:ea typeface="Arial"/>
                <a:cs typeface="Arial"/>
                <a:sym typeface="Arial"/>
              </a:rPr>
              <a:t>3 бита</a:t>
            </a:r>
            <a:endParaRPr b="0" i="0" sz="2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1" name="Google Shape;361;p15"/>
          <p:cNvSpPr/>
          <p:nvPr/>
        </p:nvSpPr>
        <p:spPr>
          <a:xfrm>
            <a:off x="5577840" y="3246120"/>
            <a:ext cx="2423160" cy="4846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E10FF"/>
              </a:buClr>
              <a:buSzPts val="2700"/>
              <a:buFont typeface="Arial"/>
              <a:buNone/>
            </a:pPr>
            <a:r>
              <a:rPr b="1" i="0" lang="en-US" sz="2700" u="none" cap="none" strike="noStrike">
                <a:solidFill>
                  <a:srgbClr val="7E10FF"/>
                </a:solidFill>
                <a:latin typeface="Arial"/>
                <a:ea typeface="Arial"/>
                <a:cs typeface="Arial"/>
                <a:sym typeface="Arial"/>
              </a:rPr>
              <a:t>74,68%</a:t>
            </a:r>
            <a:endParaRPr b="0" i="0" sz="2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2" name="Google Shape;362;p15"/>
          <p:cNvSpPr/>
          <p:nvPr/>
        </p:nvSpPr>
        <p:spPr>
          <a:xfrm>
            <a:off x="9089136" y="3319272"/>
            <a:ext cx="1572768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3C3945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5,33</a:t>
            </a:r>
            <a:r>
              <a:rPr b="1" lang="en-US" sz="1500">
                <a:solidFill>
                  <a:schemeClr val="dk1"/>
                </a:solidFill>
              </a:rPr>
              <a:t>x</a:t>
            </a:r>
            <a:endParaRPr b="0" i="0" sz="2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3" name="Google Shape;363;p15"/>
          <p:cNvSpPr/>
          <p:nvPr/>
        </p:nvSpPr>
        <p:spPr>
          <a:xfrm>
            <a:off x="685800" y="4050792"/>
            <a:ext cx="10808208" cy="73152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4" name="Google Shape;364;p15"/>
          <p:cNvSpPr/>
          <p:nvPr/>
        </p:nvSpPr>
        <p:spPr>
          <a:xfrm>
            <a:off x="950976" y="4215384"/>
            <a:ext cx="2157984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131A"/>
              </a:buClr>
              <a:buSzPts val="2300"/>
              <a:buFont typeface="Arial"/>
              <a:buNone/>
            </a:pPr>
            <a:r>
              <a:rPr b="1" i="0" lang="en-US" sz="2300" u="none" cap="none" strike="noStrike">
                <a:solidFill>
                  <a:srgbClr val="14131A"/>
                </a:solidFill>
                <a:latin typeface="Arial"/>
                <a:ea typeface="Arial"/>
                <a:cs typeface="Arial"/>
                <a:sym typeface="Arial"/>
              </a:rPr>
              <a:t>AWQ</a:t>
            </a:r>
            <a:endParaRPr b="0" i="0" sz="23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5" name="Google Shape;365;p15"/>
          <p:cNvSpPr/>
          <p:nvPr/>
        </p:nvSpPr>
        <p:spPr>
          <a:xfrm>
            <a:off x="3136392" y="4251960"/>
            <a:ext cx="2286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131A"/>
              </a:buClr>
              <a:buSzPts val="2000"/>
              <a:buFont typeface="Arial"/>
              <a:buNone/>
            </a:pPr>
            <a:r>
              <a:rPr b="0" i="0" lang="en-US" sz="2000" u="none" cap="none" strike="noStrike">
                <a:solidFill>
                  <a:srgbClr val="14131A"/>
                </a:solidFill>
                <a:latin typeface="Arial"/>
                <a:ea typeface="Arial"/>
                <a:cs typeface="Arial"/>
                <a:sym typeface="Arial"/>
              </a:rPr>
              <a:t>4 бита</a:t>
            </a:r>
            <a:endParaRPr b="0" i="0" sz="2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6" name="Google Shape;366;p15"/>
          <p:cNvSpPr/>
          <p:nvPr/>
        </p:nvSpPr>
        <p:spPr>
          <a:xfrm>
            <a:off x="5577840" y="4160520"/>
            <a:ext cx="2423160" cy="4846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E10FF"/>
              </a:buClr>
              <a:buSzPts val="2700"/>
              <a:buFont typeface="Arial"/>
              <a:buNone/>
            </a:pPr>
            <a:r>
              <a:rPr b="1" i="0" lang="en-US" sz="2700" u="none" cap="none" strike="noStrike">
                <a:solidFill>
                  <a:srgbClr val="7E10FF"/>
                </a:solidFill>
                <a:latin typeface="Arial"/>
                <a:ea typeface="Arial"/>
                <a:cs typeface="Arial"/>
                <a:sym typeface="Arial"/>
              </a:rPr>
              <a:t>72,34%</a:t>
            </a:r>
            <a:endParaRPr b="0" i="0" sz="2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7" name="Google Shape;367;p15"/>
          <p:cNvSpPr/>
          <p:nvPr/>
        </p:nvSpPr>
        <p:spPr>
          <a:xfrm>
            <a:off x="9089136" y="4233672"/>
            <a:ext cx="1572768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3C3945"/>
              </a:buClr>
              <a:buSzPts val="2000"/>
              <a:buFont typeface="Arial"/>
              <a:buNone/>
            </a:pPr>
            <a:r>
              <a:rPr b="1" lang="en-US" sz="2000">
                <a:solidFill>
                  <a:schemeClr val="dk1"/>
                </a:solidFill>
              </a:rPr>
              <a:t>~=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  <a:r>
              <a:rPr b="1" lang="en-US" sz="1500">
                <a:solidFill>
                  <a:schemeClr val="dk1"/>
                </a:solidFill>
              </a:rPr>
              <a:t>x</a:t>
            </a:r>
            <a:endParaRPr b="0" i="0" sz="2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8" name="Google Shape;368;p15"/>
          <p:cNvSpPr/>
          <p:nvPr/>
        </p:nvSpPr>
        <p:spPr>
          <a:xfrm>
            <a:off x="822960" y="5257800"/>
            <a:ext cx="10396728" cy="621792"/>
          </a:xfrm>
          <a:prstGeom prst="rect">
            <a:avLst/>
          </a:prstGeom>
          <a:solidFill>
            <a:srgbClr val="F1E8FF"/>
          </a:solidFill>
          <a:ln cap="flat" cmpd="sng" w="9525">
            <a:solidFill>
              <a:srgbClr val="F1E8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9" name="Google Shape;369;p15"/>
          <p:cNvSpPr/>
          <p:nvPr/>
        </p:nvSpPr>
        <p:spPr>
          <a:xfrm>
            <a:off x="1014984" y="5394960"/>
            <a:ext cx="10040112" cy="30175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7E10FF"/>
              </a:buClr>
              <a:buSzPts val="1870"/>
              <a:buFont typeface="Arial"/>
              <a:buNone/>
            </a:pPr>
            <a:r>
              <a:rPr b="1" i="0" lang="en-US" sz="1870" u="none" cap="none" strike="noStrike">
                <a:solidFill>
                  <a:srgbClr val="7E10FF"/>
                </a:solidFill>
                <a:latin typeface="Arial"/>
                <a:ea typeface="Arial"/>
                <a:cs typeface="Arial"/>
                <a:sym typeface="Arial"/>
              </a:rPr>
              <a:t>Вывод: 4-bit SeedLM теряет 1,45 п.п. средней точности по 5 zero-shot задачам.</a:t>
            </a:r>
            <a:endParaRPr b="0" i="0" sz="187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74" name="Shape 3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5" name="Google Shape;375;p16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7E10FF"/>
          </a:solidFill>
          <a:ln cap="flat" cmpd="sng" w="9525">
            <a:solidFill>
              <a:srgbClr val="7E1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6" name="Google Shape;376;p16"/>
          <p:cNvSpPr/>
          <p:nvPr/>
        </p:nvSpPr>
        <p:spPr>
          <a:xfrm>
            <a:off x="502920" y="128016"/>
            <a:ext cx="10698480" cy="4297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50"/>
              <a:buFont typeface="Arial"/>
              <a:buNone/>
            </a:pPr>
            <a:r>
              <a:rPr b="1" i="0" lang="en-US" sz="22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4.1. Визуальное сравнение из оригинальной статьи</a:t>
            </a:r>
            <a:endParaRPr b="0" i="0" sz="22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7" name="Google Shape;377;p16"/>
          <p:cNvSpPr/>
          <p:nvPr/>
        </p:nvSpPr>
        <p:spPr>
          <a:xfrm>
            <a:off x="10698480" y="256032"/>
            <a:ext cx="978408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EBDAFF"/>
              </a:buClr>
              <a:buSzPts val="1080"/>
              <a:buFont typeface="Arial"/>
              <a:buNone/>
            </a:pPr>
            <a:r>
              <a:rPr b="1" i="0" lang="en-US" sz="1080" u="none" cap="none" strike="noStrike">
                <a:solidFill>
                  <a:srgbClr val="EBDAFF"/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  <a:r>
              <a:rPr b="1" i="0" lang="en-US" sz="1080" u="none" cap="none" strike="noStrike">
                <a:solidFill>
                  <a:srgbClr val="EBDAFF"/>
                </a:solidFill>
                <a:latin typeface="Arial"/>
                <a:ea typeface="Arial"/>
                <a:cs typeface="Arial"/>
                <a:sym typeface="Arial"/>
              </a:rPr>
              <a:t>.1</a:t>
            </a:r>
            <a:endParaRPr b="0" i="0" sz="108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378" name="Google Shape;378;p16"/>
          <p:cNvCxnSpPr/>
          <p:nvPr/>
        </p:nvCxnSpPr>
        <p:spPr>
          <a:xfrm>
            <a:off x="502920" y="6510528"/>
            <a:ext cx="11183112" cy="0"/>
          </a:xfrm>
          <a:prstGeom prst="straightConnector1">
            <a:avLst/>
          </a:prstGeom>
          <a:noFill/>
          <a:ln cap="flat" cmpd="sng" w="10150">
            <a:solidFill>
              <a:srgbClr val="DAD6E2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9" name="Google Shape;379;p16"/>
          <p:cNvSpPr/>
          <p:nvPr/>
        </p:nvSpPr>
        <p:spPr>
          <a:xfrm>
            <a:off x="502920" y="6574536"/>
            <a:ext cx="9966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66273"/>
              </a:buClr>
              <a:buSzPts val="1020"/>
              <a:buFont typeface="Arial"/>
              <a:buNone/>
            </a:pPr>
            <a:r>
              <a:rPr b="0" i="0" lang="en-US" sz="1020" u="none" cap="none" strike="noStrike">
                <a:solidFill>
                  <a:srgbClr val="666273"/>
                </a:solidFill>
                <a:latin typeface="Arial"/>
                <a:ea typeface="Arial"/>
                <a:cs typeface="Arial"/>
                <a:sym typeface="Arial"/>
              </a:rPr>
              <a:t>Источник: статья, с. 2</a:t>
            </a:r>
            <a:r>
              <a:rPr lang="en-US" sz="1020">
                <a:solidFill>
                  <a:srgbClr val="666273"/>
                </a:solidFill>
              </a:rPr>
              <a:t>, </a:t>
            </a:r>
            <a:r>
              <a:rPr b="0" i="0" lang="en-US" sz="1020" u="none" cap="none" strike="noStrike">
                <a:solidFill>
                  <a:srgbClr val="666273"/>
                </a:solidFill>
                <a:latin typeface="Arial"/>
                <a:ea typeface="Arial"/>
                <a:cs typeface="Arial"/>
                <a:sym typeface="Arial"/>
              </a:rPr>
              <a:t>рисунок 1</a:t>
            </a:r>
            <a:endParaRPr b="0" i="0" sz="102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0" name="Google Shape;380;p16"/>
          <p:cNvSpPr/>
          <p:nvPr/>
        </p:nvSpPr>
        <p:spPr>
          <a:xfrm>
            <a:off x="11109960" y="6565392"/>
            <a:ext cx="566928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7E10FF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7E10FF"/>
                </a:solidFill>
                <a:latin typeface="Arial"/>
                <a:ea typeface="Arial"/>
                <a:cs typeface="Arial"/>
                <a:sym typeface="Arial"/>
              </a:rPr>
              <a:t>14/19</a:t>
            </a:r>
            <a:endParaRPr b="0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1" name="Google Shape;381;p16"/>
          <p:cNvSpPr/>
          <p:nvPr/>
        </p:nvSpPr>
        <p:spPr>
          <a:xfrm>
            <a:off x="640080" y="1069848"/>
            <a:ext cx="10890504" cy="4187952"/>
          </a:xfrm>
          <a:prstGeom prst="rect">
            <a:avLst/>
          </a:prstGeom>
          <a:solidFill>
            <a:srgbClr val="F8F8FA"/>
          </a:solidFill>
          <a:ln cap="flat" cmpd="sng" w="9525">
            <a:solidFill>
              <a:srgbClr val="F8F8F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/mnt/data/itmo_work/fig1_retained_accuracy.png" id="382" name="Google Shape;382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207008" y="1170432"/>
            <a:ext cx="9701784" cy="3941064"/>
          </a:xfrm>
          <a:prstGeom prst="rect">
            <a:avLst/>
          </a:prstGeom>
          <a:noFill/>
          <a:ln>
            <a:noFill/>
          </a:ln>
        </p:spPr>
      </p:pic>
      <p:sp>
        <p:nvSpPr>
          <p:cNvPr id="383" name="Google Shape;383;p16"/>
          <p:cNvSpPr/>
          <p:nvPr/>
        </p:nvSpPr>
        <p:spPr>
          <a:xfrm>
            <a:off x="896112" y="5468112"/>
            <a:ext cx="1042416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3C3945"/>
              </a:buClr>
              <a:buSzPts val="1820"/>
              <a:buFont typeface="Arial"/>
              <a:buNone/>
            </a:pPr>
            <a:r>
              <a:rPr b="0" i="0" lang="en-US" sz="1820" u="none" cap="none" strike="noStrike">
                <a:solidFill>
                  <a:srgbClr val="3C3945"/>
                </a:solidFill>
                <a:latin typeface="Arial"/>
                <a:ea typeface="Arial"/>
                <a:cs typeface="Arial"/>
                <a:sym typeface="Arial"/>
              </a:rPr>
              <a:t>Верхняя панель: 4 бита; нижняя: 3 бита. Показана сохраненная точность относительно FP16.</a:t>
            </a:r>
            <a:endParaRPr b="0" i="0" sz="182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88" name="Shape 3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" name="Google Shape;389;p17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7E10FF"/>
          </a:solidFill>
          <a:ln cap="flat" cmpd="sng" w="9525">
            <a:solidFill>
              <a:srgbClr val="7E1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0" name="Google Shape;390;p17"/>
          <p:cNvSpPr/>
          <p:nvPr/>
        </p:nvSpPr>
        <p:spPr>
          <a:xfrm>
            <a:off x="502920" y="128016"/>
            <a:ext cx="10698480" cy="4297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50"/>
              <a:buFont typeface="Arial"/>
              <a:buNone/>
            </a:pPr>
            <a:r>
              <a:rPr b="1" i="0" lang="en-US" sz="22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4.2. Аппаратная реализация: FPGA</a:t>
            </a:r>
            <a:endParaRPr b="0" i="0" sz="22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1" name="Google Shape;391;p17"/>
          <p:cNvSpPr/>
          <p:nvPr/>
        </p:nvSpPr>
        <p:spPr>
          <a:xfrm>
            <a:off x="10698480" y="256032"/>
            <a:ext cx="978408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EBDAFF"/>
              </a:buClr>
              <a:buSzPts val="1080"/>
              <a:buFont typeface="Arial"/>
              <a:buNone/>
            </a:pPr>
            <a:r>
              <a:rPr b="1" i="0" lang="en-US" sz="1080" u="none" cap="none" strike="noStrike">
                <a:solidFill>
                  <a:srgbClr val="EBDAFF"/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  <a:endParaRPr b="0" i="0" sz="108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392" name="Google Shape;392;p17"/>
          <p:cNvCxnSpPr/>
          <p:nvPr/>
        </p:nvCxnSpPr>
        <p:spPr>
          <a:xfrm>
            <a:off x="502920" y="6510528"/>
            <a:ext cx="11183112" cy="0"/>
          </a:xfrm>
          <a:prstGeom prst="straightConnector1">
            <a:avLst/>
          </a:prstGeom>
          <a:noFill/>
          <a:ln cap="flat" cmpd="sng" w="10150">
            <a:solidFill>
              <a:srgbClr val="DAD6E2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93" name="Google Shape;393;p17"/>
          <p:cNvSpPr/>
          <p:nvPr/>
        </p:nvSpPr>
        <p:spPr>
          <a:xfrm>
            <a:off x="502920" y="6574536"/>
            <a:ext cx="9966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66273"/>
              </a:buClr>
              <a:buSzPts val="1020"/>
              <a:buFont typeface="Arial"/>
              <a:buNone/>
            </a:pPr>
            <a:r>
              <a:rPr b="0" i="0" lang="en-US" sz="1020" u="none" cap="none" strike="noStrike">
                <a:solidFill>
                  <a:srgbClr val="666273"/>
                </a:solidFill>
                <a:latin typeface="Arial"/>
                <a:ea typeface="Arial"/>
                <a:cs typeface="Arial"/>
                <a:sym typeface="Arial"/>
              </a:rPr>
              <a:t>Источник: статья, с. 9 </a:t>
            </a:r>
            <a:r>
              <a:rPr lang="en-US" sz="1020">
                <a:solidFill>
                  <a:srgbClr val="666273"/>
                </a:solidFill>
              </a:rPr>
              <a:t>, параграф </a:t>
            </a:r>
            <a:r>
              <a:rPr b="0" i="0" lang="en-US" sz="1020" u="none" cap="none" strike="noStrike">
                <a:solidFill>
                  <a:srgbClr val="666273"/>
                </a:solidFill>
                <a:latin typeface="Arial"/>
                <a:ea typeface="Arial"/>
                <a:cs typeface="Arial"/>
                <a:sym typeface="Arial"/>
              </a:rPr>
              <a:t>4.2, рисунок 4</a:t>
            </a:r>
            <a:endParaRPr b="0" i="0" sz="102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4" name="Google Shape;394;p17"/>
          <p:cNvSpPr/>
          <p:nvPr/>
        </p:nvSpPr>
        <p:spPr>
          <a:xfrm>
            <a:off x="11109960" y="6565392"/>
            <a:ext cx="566928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7E10FF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7E10FF"/>
                </a:solidFill>
                <a:latin typeface="Arial"/>
                <a:ea typeface="Arial"/>
                <a:cs typeface="Arial"/>
                <a:sym typeface="Arial"/>
              </a:rPr>
              <a:t>15/19</a:t>
            </a:r>
            <a:endParaRPr b="0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5" name="Google Shape;395;p17"/>
          <p:cNvSpPr/>
          <p:nvPr/>
        </p:nvSpPr>
        <p:spPr>
          <a:xfrm>
            <a:off x="658368" y="1014984"/>
            <a:ext cx="7315200" cy="5029200"/>
          </a:xfrm>
          <a:prstGeom prst="rect">
            <a:avLst/>
          </a:prstGeom>
          <a:solidFill>
            <a:srgbClr val="F8F8FB"/>
          </a:solidFill>
          <a:ln cap="flat" cmpd="sng" w="9525">
            <a:solidFill>
              <a:srgbClr val="F8F8F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/mnt/data/itmo_work/fig4_fpga.png" id="396" name="Google Shape;396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24128" y="1709928"/>
            <a:ext cx="6528816" cy="3200400"/>
          </a:xfrm>
          <a:prstGeom prst="rect">
            <a:avLst/>
          </a:prstGeom>
          <a:noFill/>
          <a:ln>
            <a:noFill/>
          </a:ln>
        </p:spPr>
      </p:pic>
      <p:sp>
        <p:nvSpPr>
          <p:cNvPr id="397" name="Google Shape;397;p17"/>
          <p:cNvSpPr/>
          <p:nvPr/>
        </p:nvSpPr>
        <p:spPr>
          <a:xfrm>
            <a:off x="8257032" y="1097280"/>
            <a:ext cx="3337560" cy="1965960"/>
          </a:xfrm>
          <a:prstGeom prst="rect">
            <a:avLst/>
          </a:prstGeom>
          <a:solidFill>
            <a:srgbClr val="F9F8FC"/>
          </a:solidFill>
          <a:ln cap="flat" cmpd="sng" w="9525">
            <a:solidFill>
              <a:srgbClr val="F9F8F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8" name="Google Shape;398;p17"/>
          <p:cNvSpPr/>
          <p:nvPr/>
        </p:nvSpPr>
        <p:spPr>
          <a:xfrm>
            <a:off x="8257032" y="1097280"/>
            <a:ext cx="73152" cy="1965960"/>
          </a:xfrm>
          <a:prstGeom prst="rect">
            <a:avLst/>
          </a:prstGeom>
          <a:solidFill>
            <a:srgbClr val="7E10FF"/>
          </a:solidFill>
          <a:ln cap="flat" cmpd="sng" w="9525">
            <a:solidFill>
              <a:srgbClr val="7E1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9" name="Google Shape;399;p17"/>
          <p:cNvSpPr/>
          <p:nvPr/>
        </p:nvSpPr>
        <p:spPr>
          <a:xfrm>
            <a:off x="8458200" y="1261872"/>
            <a:ext cx="2953512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E10FF"/>
              </a:buClr>
              <a:buSzPts val="1820"/>
              <a:buFont typeface="Arial"/>
              <a:buNone/>
            </a:pPr>
            <a:r>
              <a:rPr b="1" i="0" lang="en-US" sz="1820" u="none" cap="none" strike="noStrike">
                <a:solidFill>
                  <a:srgbClr val="7E10FF"/>
                </a:solidFill>
                <a:latin typeface="Arial"/>
                <a:ea typeface="Arial"/>
                <a:cs typeface="Arial"/>
                <a:sym typeface="Arial"/>
              </a:rPr>
              <a:t>Платформа</a:t>
            </a:r>
            <a:endParaRPr b="0" i="0" sz="182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0" name="Google Shape;400;p17"/>
          <p:cNvSpPr/>
          <p:nvPr/>
        </p:nvSpPr>
        <p:spPr>
          <a:xfrm>
            <a:off x="8458200" y="1700784"/>
            <a:ext cx="2926080" cy="12344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C3945"/>
              </a:buClr>
              <a:buSzPts val="1700"/>
              <a:buFont typeface="Arial"/>
              <a:buNone/>
            </a:pPr>
            <a:r>
              <a:rPr b="0" i="0" lang="en-US" sz="1700" u="none" cap="none" strike="noStrike">
                <a:solidFill>
                  <a:srgbClr val="3C3945"/>
                </a:solidFill>
                <a:latin typeface="Arial"/>
                <a:ea typeface="Arial"/>
                <a:cs typeface="Arial"/>
                <a:sym typeface="Arial"/>
              </a:rPr>
              <a:t>AMD Virtex-7 FPGA</a:t>
            </a:r>
            <a:endParaRPr b="0" i="0" sz="1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C3945"/>
              </a:buClr>
              <a:buSzPts val="1700"/>
              <a:buFont typeface="Arial"/>
              <a:buNone/>
            </a:pPr>
            <a:r>
              <a:rPr b="0" i="0" lang="en-US" sz="1700" u="none" cap="none" strike="noStrike">
                <a:solidFill>
                  <a:srgbClr val="3C3945"/>
                </a:solidFill>
                <a:latin typeface="Arial"/>
                <a:ea typeface="Arial"/>
                <a:cs typeface="Arial"/>
                <a:sym typeface="Arial"/>
              </a:rPr>
              <a:t>XC7V585T-3.</a:t>
            </a:r>
            <a:endParaRPr b="0" i="0" sz="1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1" name="Google Shape;401;p17"/>
          <p:cNvSpPr/>
          <p:nvPr/>
        </p:nvSpPr>
        <p:spPr>
          <a:xfrm>
            <a:off x="8257032" y="3273552"/>
            <a:ext cx="3337560" cy="2322576"/>
          </a:xfrm>
          <a:prstGeom prst="rect">
            <a:avLst/>
          </a:prstGeom>
          <a:solidFill>
            <a:srgbClr val="F9F8FC"/>
          </a:solidFill>
          <a:ln cap="flat" cmpd="sng" w="9525">
            <a:solidFill>
              <a:srgbClr val="F9F8F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2" name="Google Shape;402;p17"/>
          <p:cNvSpPr/>
          <p:nvPr/>
        </p:nvSpPr>
        <p:spPr>
          <a:xfrm>
            <a:off x="8257032" y="3273552"/>
            <a:ext cx="73152" cy="2322576"/>
          </a:xfrm>
          <a:prstGeom prst="rect">
            <a:avLst/>
          </a:prstGeom>
          <a:solidFill>
            <a:srgbClr val="0069FF"/>
          </a:solidFill>
          <a:ln cap="flat" cmpd="sng" w="9525">
            <a:solidFill>
              <a:srgbClr val="0069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3" name="Google Shape;403;p17"/>
          <p:cNvSpPr/>
          <p:nvPr/>
        </p:nvSpPr>
        <p:spPr>
          <a:xfrm>
            <a:off x="8458200" y="3438144"/>
            <a:ext cx="2953512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69FF"/>
              </a:buClr>
              <a:buSzPts val="1820"/>
              <a:buFont typeface="Arial"/>
              <a:buNone/>
            </a:pPr>
            <a:r>
              <a:rPr b="1" i="0" lang="en-US" sz="1820" u="none" cap="none" strike="noStrike">
                <a:solidFill>
                  <a:srgbClr val="0069FF"/>
                </a:solidFill>
                <a:latin typeface="Arial"/>
                <a:ea typeface="Arial"/>
                <a:cs typeface="Arial"/>
                <a:sym typeface="Arial"/>
              </a:rPr>
              <a:t>Идея ускорения</a:t>
            </a:r>
            <a:endParaRPr b="0" i="0" sz="182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4" name="Google Shape;404;p17"/>
          <p:cNvSpPr/>
          <p:nvPr/>
        </p:nvSpPr>
        <p:spPr>
          <a:xfrm>
            <a:off x="8458200" y="3877056"/>
            <a:ext cx="2926080" cy="15910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C3945"/>
              </a:buClr>
              <a:buSzPts val="1700"/>
              <a:buFont typeface="Arial"/>
              <a:buNone/>
            </a:pPr>
            <a:r>
              <a:rPr b="0" i="0" lang="en-US" sz="1700" u="none" cap="none" strike="noStrike">
                <a:solidFill>
                  <a:srgbClr val="3C3945"/>
                </a:solidFill>
                <a:latin typeface="Arial"/>
                <a:ea typeface="Arial"/>
                <a:cs typeface="Arial"/>
                <a:sym typeface="Arial"/>
              </a:rPr>
              <a:t>Шина DDR: 64 байта за такт.</a:t>
            </a:r>
            <a:endParaRPr b="0" i="0" sz="1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C3945"/>
              </a:buClr>
              <a:buSzPts val="1700"/>
              <a:buFont typeface="Arial"/>
              <a:buNone/>
            </a:pPr>
            <a:r>
              <a:rPr b="0" i="0" lang="en-US" sz="1700" u="none" cap="none" strike="noStrike">
                <a:solidFill>
                  <a:srgbClr val="3C3945"/>
                </a:solidFill>
                <a:latin typeface="Arial"/>
                <a:ea typeface="Arial"/>
                <a:cs typeface="Arial"/>
                <a:sym typeface="Arial"/>
              </a:rPr>
              <a:t>FP16: 32 веса/такт.</a:t>
            </a:r>
            <a:endParaRPr b="0" i="0" sz="1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C3945"/>
              </a:buClr>
              <a:buSzPts val="1700"/>
              <a:buFont typeface="Arial"/>
              <a:buNone/>
            </a:pPr>
            <a:r>
              <a:rPr b="0" i="0" lang="en-US" sz="1700" u="none" cap="none" strike="noStrike">
                <a:solidFill>
                  <a:srgbClr val="3C3945"/>
                </a:solidFill>
                <a:latin typeface="Arial"/>
                <a:ea typeface="Arial"/>
                <a:cs typeface="Arial"/>
                <a:sym typeface="Arial"/>
              </a:rPr>
              <a:t>SeedLM 4-bit: 128 весов/такт.</a:t>
            </a:r>
            <a:endParaRPr b="0" i="0" sz="1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409" name="Shape 4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0" name="Google Shape;410;p18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7E10FF"/>
          </a:solidFill>
          <a:ln cap="flat" cmpd="sng" w="9525">
            <a:solidFill>
              <a:srgbClr val="7E1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1" name="Google Shape;411;p18"/>
          <p:cNvSpPr/>
          <p:nvPr/>
        </p:nvSpPr>
        <p:spPr>
          <a:xfrm>
            <a:off x="502920" y="128016"/>
            <a:ext cx="10698480" cy="4297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50"/>
              <a:buFont typeface="Arial"/>
              <a:buNone/>
            </a:pPr>
            <a:r>
              <a:rPr b="1" i="0" lang="en-US" sz="22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4.2. Измеренное ускорение FPGA</a:t>
            </a:r>
            <a:endParaRPr b="0" i="0" sz="22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2" name="Google Shape;412;p18"/>
          <p:cNvSpPr/>
          <p:nvPr/>
        </p:nvSpPr>
        <p:spPr>
          <a:xfrm>
            <a:off x="10698480" y="256032"/>
            <a:ext cx="978408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EBDAFF"/>
              </a:buClr>
              <a:buSzPts val="1080"/>
              <a:buFont typeface="Arial"/>
              <a:buNone/>
            </a:pPr>
            <a:r>
              <a:rPr b="1" i="0" lang="en-US" sz="1080" u="none" cap="none" strike="noStrike">
                <a:solidFill>
                  <a:srgbClr val="EBDAFF"/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  <a:endParaRPr b="0" i="0" sz="108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413" name="Google Shape;413;p18"/>
          <p:cNvCxnSpPr/>
          <p:nvPr/>
        </p:nvCxnSpPr>
        <p:spPr>
          <a:xfrm>
            <a:off x="502920" y="6510528"/>
            <a:ext cx="11183112" cy="0"/>
          </a:xfrm>
          <a:prstGeom prst="straightConnector1">
            <a:avLst/>
          </a:prstGeom>
          <a:noFill/>
          <a:ln cap="flat" cmpd="sng" w="10150">
            <a:solidFill>
              <a:srgbClr val="DAD6E2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4" name="Google Shape;414;p18"/>
          <p:cNvSpPr/>
          <p:nvPr/>
        </p:nvSpPr>
        <p:spPr>
          <a:xfrm>
            <a:off x="502920" y="6574536"/>
            <a:ext cx="9966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66273"/>
              </a:buClr>
              <a:buSzPts val="1020"/>
              <a:buFont typeface="Arial"/>
              <a:buNone/>
            </a:pPr>
            <a:r>
              <a:rPr b="0" i="0" lang="en-US" sz="1020" u="none" cap="none" strike="noStrike">
                <a:solidFill>
                  <a:srgbClr val="666273"/>
                </a:solidFill>
                <a:latin typeface="Arial"/>
                <a:ea typeface="Arial"/>
                <a:cs typeface="Arial"/>
                <a:sym typeface="Arial"/>
              </a:rPr>
              <a:t>Источник: статья, с. 10</a:t>
            </a:r>
            <a:r>
              <a:rPr lang="en-US" sz="1020">
                <a:solidFill>
                  <a:srgbClr val="666273"/>
                </a:solidFill>
              </a:rPr>
              <a:t>, </a:t>
            </a:r>
            <a:r>
              <a:rPr b="0" i="0" lang="en-US" sz="1020" u="none" cap="none" strike="noStrike">
                <a:solidFill>
                  <a:srgbClr val="666273"/>
                </a:solidFill>
                <a:latin typeface="Arial"/>
                <a:ea typeface="Arial"/>
                <a:cs typeface="Arial"/>
                <a:sym typeface="Arial"/>
              </a:rPr>
              <a:t>таблица 5</a:t>
            </a:r>
            <a:endParaRPr b="0" i="0" sz="102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5" name="Google Shape;415;p18"/>
          <p:cNvSpPr/>
          <p:nvPr/>
        </p:nvSpPr>
        <p:spPr>
          <a:xfrm>
            <a:off x="11109960" y="6565392"/>
            <a:ext cx="566928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7E10FF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7E10FF"/>
                </a:solidFill>
                <a:latin typeface="Arial"/>
                <a:ea typeface="Arial"/>
                <a:cs typeface="Arial"/>
                <a:sym typeface="Arial"/>
              </a:rPr>
              <a:t>16/19</a:t>
            </a:r>
            <a:endParaRPr b="0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6" name="Google Shape;416;p18"/>
          <p:cNvSpPr/>
          <p:nvPr/>
        </p:nvSpPr>
        <p:spPr>
          <a:xfrm>
            <a:off x="701095" y="1954113"/>
            <a:ext cx="10789800" cy="722400"/>
          </a:xfrm>
          <a:prstGeom prst="rect">
            <a:avLst/>
          </a:prstGeom>
          <a:solidFill>
            <a:srgbClr val="7E10FF"/>
          </a:solidFill>
          <a:ln cap="flat" cmpd="sng" w="9525">
            <a:solidFill>
              <a:srgbClr val="7E1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7" name="Google Shape;417;p18"/>
          <p:cNvSpPr/>
          <p:nvPr/>
        </p:nvSpPr>
        <p:spPr>
          <a:xfrm>
            <a:off x="911407" y="2072985"/>
            <a:ext cx="2743200" cy="41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70"/>
              <a:buFont typeface="Arial"/>
              <a:buNone/>
            </a:pPr>
            <a:r>
              <a:rPr b="1" i="0" lang="en-US" sz="157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Матрица</a:t>
            </a:r>
            <a:endParaRPr b="0" i="0" sz="157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8" name="Google Shape;418;p18"/>
          <p:cNvSpPr/>
          <p:nvPr/>
        </p:nvSpPr>
        <p:spPr>
          <a:xfrm>
            <a:off x="3928927" y="2072985"/>
            <a:ext cx="2432400" cy="41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70"/>
              <a:buFont typeface="Arial"/>
              <a:buNone/>
            </a:pPr>
            <a:r>
              <a:rPr b="1" i="0" lang="en-US" sz="157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FP16 (такты)</a:t>
            </a:r>
            <a:endParaRPr b="0" i="0" sz="157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9" name="Google Shape;419;p18"/>
          <p:cNvSpPr/>
          <p:nvPr/>
        </p:nvSpPr>
        <p:spPr>
          <a:xfrm>
            <a:off x="6644695" y="2072985"/>
            <a:ext cx="2304300" cy="41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70"/>
              <a:buFont typeface="Arial"/>
              <a:buNone/>
            </a:pPr>
            <a:r>
              <a:rPr b="1" i="0" lang="en-US" sz="157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SeedLM (такты)</a:t>
            </a:r>
            <a:endParaRPr b="0" i="0" sz="157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0" name="Google Shape;420;p18"/>
          <p:cNvSpPr/>
          <p:nvPr/>
        </p:nvSpPr>
        <p:spPr>
          <a:xfrm>
            <a:off x="9177583" y="2072985"/>
            <a:ext cx="2011800" cy="41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70"/>
              <a:buFont typeface="Arial"/>
              <a:buNone/>
            </a:pPr>
            <a:r>
              <a:rPr b="1" i="0" lang="en-US" sz="157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Ускорение</a:t>
            </a:r>
            <a:endParaRPr b="0" i="0" sz="157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1" name="Google Shape;421;p18"/>
          <p:cNvSpPr/>
          <p:nvPr/>
        </p:nvSpPr>
        <p:spPr>
          <a:xfrm>
            <a:off x="701095" y="2877657"/>
            <a:ext cx="10789800" cy="722400"/>
          </a:xfrm>
          <a:prstGeom prst="rect">
            <a:avLst/>
          </a:prstGeom>
          <a:solidFill>
            <a:srgbClr val="F9F7FD"/>
          </a:solidFill>
          <a:ln cap="flat" cmpd="sng" w="9525">
            <a:solidFill>
              <a:srgbClr val="F9F7F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2" name="Google Shape;422;p18"/>
          <p:cNvSpPr/>
          <p:nvPr/>
        </p:nvSpPr>
        <p:spPr>
          <a:xfrm>
            <a:off x="911407" y="2996529"/>
            <a:ext cx="2743200" cy="41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C3945"/>
              </a:buClr>
              <a:buSzPts val="2200"/>
              <a:buFont typeface="Arial"/>
              <a:buNone/>
            </a:pPr>
            <a:r>
              <a:rPr b="0" i="0" lang="en-US" sz="2200" u="none" cap="none" strike="noStrike">
                <a:solidFill>
                  <a:srgbClr val="3C3945"/>
                </a:solidFill>
                <a:latin typeface="Arial"/>
                <a:ea typeface="Arial"/>
                <a:cs typeface="Arial"/>
                <a:sym typeface="Arial"/>
              </a:rPr>
              <a:t>512 </a:t>
            </a:r>
            <a:r>
              <a:rPr lang="en-US" sz="1500">
                <a:solidFill>
                  <a:srgbClr val="3C3945"/>
                </a:solidFill>
              </a:rPr>
              <a:t>x</a:t>
            </a:r>
            <a:r>
              <a:rPr b="0" i="0" lang="en-US" sz="2200" u="none" cap="none" strike="noStrike">
                <a:solidFill>
                  <a:srgbClr val="3C3945"/>
                </a:solidFill>
                <a:latin typeface="Arial"/>
                <a:ea typeface="Arial"/>
                <a:cs typeface="Arial"/>
                <a:sym typeface="Arial"/>
              </a:rPr>
              <a:t> 512</a:t>
            </a:r>
            <a:endParaRPr b="0" i="0" sz="2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3" name="Google Shape;423;p18"/>
          <p:cNvSpPr/>
          <p:nvPr/>
        </p:nvSpPr>
        <p:spPr>
          <a:xfrm>
            <a:off x="3928927" y="2996529"/>
            <a:ext cx="2432400" cy="41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3C3945"/>
              </a:buClr>
              <a:buSzPts val="2200"/>
              <a:buFont typeface="Arial"/>
              <a:buNone/>
            </a:pPr>
            <a:r>
              <a:rPr b="0" i="0" lang="en-US" sz="2200" u="none" cap="none" strike="noStrike">
                <a:solidFill>
                  <a:srgbClr val="3C3945"/>
                </a:solidFill>
                <a:latin typeface="Arial"/>
                <a:ea typeface="Arial"/>
                <a:cs typeface="Arial"/>
                <a:sym typeface="Arial"/>
              </a:rPr>
              <a:t>8 593</a:t>
            </a:r>
            <a:endParaRPr b="0" i="0" sz="2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4" name="Google Shape;424;p18"/>
          <p:cNvSpPr/>
          <p:nvPr/>
        </p:nvSpPr>
        <p:spPr>
          <a:xfrm>
            <a:off x="6644695" y="2996529"/>
            <a:ext cx="2304300" cy="41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3C3945"/>
              </a:buClr>
              <a:buSzPts val="2200"/>
              <a:buFont typeface="Arial"/>
              <a:buNone/>
            </a:pPr>
            <a:r>
              <a:rPr b="0" i="0" lang="en-US" sz="2200" u="none" cap="none" strike="noStrike">
                <a:solidFill>
                  <a:srgbClr val="3C3945"/>
                </a:solidFill>
                <a:latin typeface="Arial"/>
                <a:ea typeface="Arial"/>
                <a:cs typeface="Arial"/>
                <a:sym typeface="Arial"/>
              </a:rPr>
              <a:t>2 341</a:t>
            </a:r>
            <a:endParaRPr b="0" i="0" sz="2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5" name="Google Shape;425;p18"/>
          <p:cNvSpPr/>
          <p:nvPr/>
        </p:nvSpPr>
        <p:spPr>
          <a:xfrm>
            <a:off x="9177583" y="2996529"/>
            <a:ext cx="2011800" cy="41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7E10FF"/>
              </a:buClr>
              <a:buSzPts val="2200"/>
              <a:buFont typeface="Arial"/>
              <a:buNone/>
            </a:pPr>
            <a:r>
              <a:rPr b="1" i="0" lang="en-US" sz="2200" u="none" cap="none" strike="noStrike">
                <a:solidFill>
                  <a:srgbClr val="7E10FF"/>
                </a:solidFill>
                <a:latin typeface="Arial"/>
                <a:ea typeface="Arial"/>
                <a:cs typeface="Arial"/>
                <a:sym typeface="Arial"/>
              </a:rPr>
              <a:t>3,67</a:t>
            </a:r>
            <a:r>
              <a:rPr b="1" lang="en-US" sz="1500">
                <a:solidFill>
                  <a:srgbClr val="7E10FF"/>
                </a:solidFill>
              </a:rPr>
              <a:t>x</a:t>
            </a:r>
            <a:endParaRPr b="0" i="0" sz="15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6" name="Google Shape;426;p18"/>
          <p:cNvSpPr/>
          <p:nvPr/>
        </p:nvSpPr>
        <p:spPr>
          <a:xfrm>
            <a:off x="701095" y="3801201"/>
            <a:ext cx="10789800" cy="72240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7" name="Google Shape;427;p18"/>
          <p:cNvSpPr/>
          <p:nvPr/>
        </p:nvSpPr>
        <p:spPr>
          <a:xfrm>
            <a:off x="911407" y="3920073"/>
            <a:ext cx="2743200" cy="41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C3945"/>
              </a:buClr>
              <a:buSzPts val="2200"/>
              <a:buFont typeface="Arial"/>
              <a:buNone/>
            </a:pPr>
            <a:r>
              <a:rPr b="0" i="0" lang="en-US" sz="2200" u="none" cap="none" strike="noStrike">
                <a:solidFill>
                  <a:srgbClr val="3C3945"/>
                </a:solidFill>
                <a:latin typeface="Arial"/>
                <a:ea typeface="Arial"/>
                <a:cs typeface="Arial"/>
                <a:sym typeface="Arial"/>
              </a:rPr>
              <a:t>1024 </a:t>
            </a:r>
            <a:r>
              <a:rPr lang="en-US" sz="1500">
                <a:solidFill>
                  <a:srgbClr val="3C3945"/>
                </a:solidFill>
              </a:rPr>
              <a:t>x</a:t>
            </a:r>
            <a:r>
              <a:rPr b="0" i="0" lang="en-US" sz="2200" u="none" cap="none" strike="noStrike">
                <a:solidFill>
                  <a:srgbClr val="3C3945"/>
                </a:solidFill>
                <a:latin typeface="Arial"/>
                <a:ea typeface="Arial"/>
                <a:cs typeface="Arial"/>
                <a:sym typeface="Arial"/>
              </a:rPr>
              <a:t> 1024</a:t>
            </a:r>
            <a:endParaRPr b="0" i="0" sz="2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8" name="Google Shape;428;p18"/>
          <p:cNvSpPr/>
          <p:nvPr/>
        </p:nvSpPr>
        <p:spPr>
          <a:xfrm>
            <a:off x="3928927" y="3920073"/>
            <a:ext cx="2432400" cy="41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3C3945"/>
              </a:buClr>
              <a:buSzPts val="2200"/>
              <a:buFont typeface="Arial"/>
              <a:buNone/>
            </a:pPr>
            <a:r>
              <a:rPr b="0" i="0" lang="en-US" sz="2200" u="none" cap="none" strike="noStrike">
                <a:solidFill>
                  <a:srgbClr val="3C3945"/>
                </a:solidFill>
                <a:latin typeface="Arial"/>
                <a:ea typeface="Arial"/>
                <a:cs typeface="Arial"/>
                <a:sym typeface="Arial"/>
              </a:rPr>
              <a:t>34 201</a:t>
            </a:r>
            <a:endParaRPr b="0" i="0" sz="2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9" name="Google Shape;429;p18"/>
          <p:cNvSpPr/>
          <p:nvPr/>
        </p:nvSpPr>
        <p:spPr>
          <a:xfrm>
            <a:off x="6644695" y="3920073"/>
            <a:ext cx="2304300" cy="41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3C3945"/>
              </a:buClr>
              <a:buSzPts val="2200"/>
              <a:buFont typeface="Arial"/>
              <a:buNone/>
            </a:pPr>
            <a:r>
              <a:rPr b="0" i="0" lang="en-US" sz="2200" u="none" cap="none" strike="noStrike">
                <a:solidFill>
                  <a:srgbClr val="3C3945"/>
                </a:solidFill>
                <a:latin typeface="Arial"/>
                <a:ea typeface="Arial"/>
                <a:cs typeface="Arial"/>
                <a:sym typeface="Arial"/>
              </a:rPr>
              <a:t>8 723</a:t>
            </a:r>
            <a:endParaRPr b="0" i="0" sz="2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0" name="Google Shape;430;p18"/>
          <p:cNvSpPr/>
          <p:nvPr/>
        </p:nvSpPr>
        <p:spPr>
          <a:xfrm>
            <a:off x="9177583" y="3920073"/>
            <a:ext cx="2011800" cy="41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7E10FF"/>
              </a:buClr>
              <a:buSzPts val="2200"/>
              <a:buFont typeface="Arial"/>
              <a:buNone/>
            </a:pPr>
            <a:r>
              <a:rPr b="1" i="0" lang="en-US" sz="2200" u="none" cap="none" strike="noStrike">
                <a:solidFill>
                  <a:srgbClr val="7E10FF"/>
                </a:solidFill>
                <a:latin typeface="Arial"/>
                <a:ea typeface="Arial"/>
                <a:cs typeface="Arial"/>
                <a:sym typeface="Arial"/>
              </a:rPr>
              <a:t>3,92</a:t>
            </a:r>
            <a:r>
              <a:rPr b="1" lang="en-US" sz="1500">
                <a:solidFill>
                  <a:srgbClr val="7E10FF"/>
                </a:solidFill>
              </a:rPr>
              <a:t>x</a:t>
            </a:r>
            <a:endParaRPr b="0" i="0" sz="15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1" name="Google Shape;431;p18"/>
          <p:cNvSpPr/>
          <p:nvPr/>
        </p:nvSpPr>
        <p:spPr>
          <a:xfrm>
            <a:off x="701095" y="4724745"/>
            <a:ext cx="10789800" cy="722400"/>
          </a:xfrm>
          <a:prstGeom prst="rect">
            <a:avLst/>
          </a:prstGeom>
          <a:solidFill>
            <a:srgbClr val="F9F7FD"/>
          </a:solidFill>
          <a:ln cap="flat" cmpd="sng" w="9525">
            <a:solidFill>
              <a:srgbClr val="F9F7F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2" name="Google Shape;432;p18"/>
          <p:cNvSpPr/>
          <p:nvPr/>
        </p:nvSpPr>
        <p:spPr>
          <a:xfrm>
            <a:off x="911407" y="4843617"/>
            <a:ext cx="2743200" cy="41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C3945"/>
              </a:buClr>
              <a:buSzPts val="2200"/>
              <a:buFont typeface="Arial"/>
              <a:buNone/>
            </a:pPr>
            <a:r>
              <a:rPr b="0" i="0" lang="en-US" sz="2200" u="none" cap="none" strike="noStrike">
                <a:solidFill>
                  <a:srgbClr val="3C3945"/>
                </a:solidFill>
                <a:latin typeface="Arial"/>
                <a:ea typeface="Arial"/>
                <a:cs typeface="Arial"/>
                <a:sym typeface="Arial"/>
              </a:rPr>
              <a:t>2048 </a:t>
            </a:r>
            <a:r>
              <a:rPr lang="en-US" sz="1500">
                <a:solidFill>
                  <a:srgbClr val="3C3945"/>
                </a:solidFill>
              </a:rPr>
              <a:t>x</a:t>
            </a:r>
            <a:r>
              <a:rPr b="0" i="0" lang="en-US" sz="2200" u="none" cap="none" strike="noStrike">
                <a:solidFill>
                  <a:srgbClr val="3C3945"/>
                </a:solidFill>
                <a:latin typeface="Arial"/>
                <a:ea typeface="Arial"/>
                <a:cs typeface="Arial"/>
                <a:sym typeface="Arial"/>
              </a:rPr>
              <a:t> 2048</a:t>
            </a:r>
            <a:endParaRPr b="0" i="0" sz="2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3" name="Google Shape;433;p18"/>
          <p:cNvSpPr/>
          <p:nvPr/>
        </p:nvSpPr>
        <p:spPr>
          <a:xfrm>
            <a:off x="3928927" y="4843617"/>
            <a:ext cx="2432400" cy="41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3C3945"/>
              </a:buClr>
              <a:buSzPts val="2200"/>
              <a:buFont typeface="Arial"/>
              <a:buNone/>
            </a:pPr>
            <a:r>
              <a:rPr b="0" i="0" lang="en-US" sz="2200" u="none" cap="none" strike="noStrike">
                <a:solidFill>
                  <a:srgbClr val="3C3945"/>
                </a:solidFill>
                <a:latin typeface="Arial"/>
                <a:ea typeface="Arial"/>
                <a:cs typeface="Arial"/>
                <a:sym typeface="Arial"/>
              </a:rPr>
              <a:t>136 559</a:t>
            </a:r>
            <a:endParaRPr b="0" i="0" sz="2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4" name="Google Shape;434;p18"/>
          <p:cNvSpPr/>
          <p:nvPr/>
        </p:nvSpPr>
        <p:spPr>
          <a:xfrm>
            <a:off x="6644695" y="4843617"/>
            <a:ext cx="2304300" cy="41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3C3945"/>
              </a:buClr>
              <a:buSzPts val="2200"/>
              <a:buFont typeface="Arial"/>
              <a:buNone/>
            </a:pPr>
            <a:r>
              <a:rPr b="0" i="0" lang="en-US" sz="2200" u="none" cap="none" strike="noStrike">
                <a:solidFill>
                  <a:srgbClr val="3C3945"/>
                </a:solidFill>
                <a:latin typeface="Arial"/>
                <a:ea typeface="Arial"/>
                <a:cs typeface="Arial"/>
                <a:sym typeface="Arial"/>
              </a:rPr>
              <a:t>34 331</a:t>
            </a:r>
            <a:endParaRPr b="0" i="0" sz="2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5" name="Google Shape;435;p18"/>
          <p:cNvSpPr/>
          <p:nvPr/>
        </p:nvSpPr>
        <p:spPr>
          <a:xfrm>
            <a:off x="9177583" y="4843617"/>
            <a:ext cx="2011800" cy="41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7E10FF"/>
              </a:buClr>
              <a:buSzPts val="2200"/>
              <a:buFont typeface="Arial"/>
              <a:buNone/>
            </a:pPr>
            <a:r>
              <a:rPr b="1" i="0" lang="en-US" sz="2200" u="none" cap="none" strike="noStrike">
                <a:solidFill>
                  <a:srgbClr val="7E10FF"/>
                </a:solidFill>
                <a:latin typeface="Arial"/>
                <a:ea typeface="Arial"/>
                <a:cs typeface="Arial"/>
                <a:sym typeface="Arial"/>
              </a:rPr>
              <a:t>3,98</a:t>
            </a:r>
            <a:r>
              <a:rPr b="1" lang="en-US" sz="1500">
                <a:solidFill>
                  <a:srgbClr val="7E10FF"/>
                </a:solidFill>
              </a:rPr>
              <a:t>x</a:t>
            </a:r>
            <a:endParaRPr b="0" i="0" sz="15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440" name="Shape 4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1" name="Google Shape;441;p19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7E10FF"/>
          </a:solidFill>
          <a:ln cap="flat" cmpd="sng" w="9525">
            <a:solidFill>
              <a:srgbClr val="7E1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2" name="Google Shape;442;p19"/>
          <p:cNvSpPr/>
          <p:nvPr/>
        </p:nvSpPr>
        <p:spPr>
          <a:xfrm>
            <a:off x="502920" y="128016"/>
            <a:ext cx="10698480" cy="4297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50"/>
              <a:buFont typeface="Arial"/>
              <a:buNone/>
            </a:pPr>
            <a:r>
              <a:rPr b="1" i="0" lang="en-US" sz="22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5. Итоги авторов статьи и ограничения</a:t>
            </a:r>
            <a:endParaRPr b="0" i="0" sz="22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3" name="Google Shape;443;p19"/>
          <p:cNvSpPr/>
          <p:nvPr/>
        </p:nvSpPr>
        <p:spPr>
          <a:xfrm>
            <a:off x="10698480" y="256032"/>
            <a:ext cx="978408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EBDAFF"/>
              </a:buClr>
              <a:buSzPts val="1080"/>
              <a:buFont typeface="Arial"/>
              <a:buNone/>
            </a:pPr>
            <a:r>
              <a:rPr b="1" i="0" lang="en-US" sz="1080" u="none" cap="none" strike="noStrike">
                <a:solidFill>
                  <a:srgbClr val="EBDAFF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108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444" name="Google Shape;444;p19"/>
          <p:cNvCxnSpPr/>
          <p:nvPr/>
        </p:nvCxnSpPr>
        <p:spPr>
          <a:xfrm>
            <a:off x="502920" y="6510528"/>
            <a:ext cx="11183112" cy="0"/>
          </a:xfrm>
          <a:prstGeom prst="straightConnector1">
            <a:avLst/>
          </a:prstGeom>
          <a:noFill/>
          <a:ln cap="flat" cmpd="sng" w="10150">
            <a:solidFill>
              <a:srgbClr val="DAD6E2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5" name="Google Shape;445;p19"/>
          <p:cNvSpPr/>
          <p:nvPr/>
        </p:nvSpPr>
        <p:spPr>
          <a:xfrm>
            <a:off x="502920" y="6574536"/>
            <a:ext cx="9966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66273"/>
              </a:buClr>
              <a:buSzPts val="1020"/>
              <a:buFont typeface="Arial"/>
              <a:buNone/>
            </a:pPr>
            <a:r>
              <a:rPr b="0" i="0" lang="en-US" sz="1020" u="none" cap="none" strike="noStrike">
                <a:solidFill>
                  <a:srgbClr val="666273"/>
                </a:solidFill>
                <a:latin typeface="Arial"/>
                <a:ea typeface="Arial"/>
                <a:cs typeface="Arial"/>
                <a:sym typeface="Arial"/>
              </a:rPr>
              <a:t>Источник: статья, с. 10 </a:t>
            </a:r>
            <a:r>
              <a:rPr lang="en-US" sz="1020">
                <a:solidFill>
                  <a:srgbClr val="666273"/>
                </a:solidFill>
              </a:rPr>
              <a:t>, параграф </a:t>
            </a:r>
            <a:r>
              <a:rPr b="0" i="0" lang="en-US" sz="1020" u="none" cap="none" strike="noStrike">
                <a:solidFill>
                  <a:srgbClr val="666273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102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6" name="Google Shape;446;p19"/>
          <p:cNvSpPr/>
          <p:nvPr/>
        </p:nvSpPr>
        <p:spPr>
          <a:xfrm>
            <a:off x="11109960" y="6565392"/>
            <a:ext cx="566928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7E10FF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7E10FF"/>
                </a:solidFill>
                <a:latin typeface="Arial"/>
                <a:ea typeface="Arial"/>
                <a:cs typeface="Arial"/>
                <a:sym typeface="Arial"/>
              </a:rPr>
              <a:t>17/19</a:t>
            </a:r>
            <a:endParaRPr b="0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7" name="Google Shape;447;p19"/>
          <p:cNvSpPr/>
          <p:nvPr/>
        </p:nvSpPr>
        <p:spPr>
          <a:xfrm>
            <a:off x="676656" y="1078992"/>
            <a:ext cx="5212080" cy="1901952"/>
          </a:xfrm>
          <a:prstGeom prst="rect">
            <a:avLst/>
          </a:prstGeom>
          <a:solidFill>
            <a:srgbClr val="F9F8FC"/>
          </a:solidFill>
          <a:ln cap="flat" cmpd="sng" w="9525">
            <a:solidFill>
              <a:srgbClr val="F9F8F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8" name="Google Shape;448;p19"/>
          <p:cNvSpPr/>
          <p:nvPr/>
        </p:nvSpPr>
        <p:spPr>
          <a:xfrm>
            <a:off x="676656" y="1078992"/>
            <a:ext cx="73152" cy="1901952"/>
          </a:xfrm>
          <a:prstGeom prst="rect">
            <a:avLst/>
          </a:prstGeom>
          <a:solidFill>
            <a:srgbClr val="008C83"/>
          </a:solidFill>
          <a:ln cap="flat" cmpd="sng" w="9525">
            <a:solidFill>
              <a:srgbClr val="008C8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9" name="Google Shape;449;p19"/>
          <p:cNvSpPr/>
          <p:nvPr/>
        </p:nvSpPr>
        <p:spPr>
          <a:xfrm>
            <a:off x="877824" y="1243584"/>
            <a:ext cx="4828032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8C83"/>
              </a:buClr>
              <a:buSzPts val="1820"/>
              <a:buFont typeface="Arial"/>
              <a:buNone/>
            </a:pPr>
            <a:r>
              <a:rPr b="1" i="0" lang="en-US" sz="1820" u="none" cap="none" strike="noStrike">
                <a:solidFill>
                  <a:srgbClr val="008C83"/>
                </a:solidFill>
                <a:latin typeface="Arial"/>
                <a:ea typeface="Arial"/>
                <a:cs typeface="Arial"/>
                <a:sym typeface="Arial"/>
              </a:rPr>
              <a:t>Что удалось</a:t>
            </a:r>
            <a:endParaRPr b="0" i="0" sz="182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0" name="Google Shape;450;p19"/>
          <p:cNvSpPr/>
          <p:nvPr/>
        </p:nvSpPr>
        <p:spPr>
          <a:xfrm>
            <a:off x="877824" y="1682496"/>
            <a:ext cx="4800600" cy="11704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C3945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3C3945"/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  <a:r>
              <a:rPr lang="en-US" sz="1800">
                <a:solidFill>
                  <a:srgbClr val="3C3945"/>
                </a:solidFill>
              </a:rPr>
              <a:t>-</a:t>
            </a:r>
            <a:r>
              <a:rPr b="0" i="0" lang="en-US" sz="1800" u="none" cap="none" strike="noStrike">
                <a:solidFill>
                  <a:srgbClr val="3C3945"/>
                </a:solidFill>
                <a:latin typeface="Arial"/>
                <a:ea typeface="Arial"/>
                <a:cs typeface="Arial"/>
                <a:sym typeface="Arial"/>
              </a:rPr>
              <a:t>4 бита на вес без calibration data и дополнительного обучения; высокая retained accuracy в тестах.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1" name="Google Shape;451;p19"/>
          <p:cNvSpPr/>
          <p:nvPr/>
        </p:nvSpPr>
        <p:spPr>
          <a:xfrm>
            <a:off x="6260644" y="2478017"/>
            <a:ext cx="5212200" cy="1902000"/>
          </a:xfrm>
          <a:prstGeom prst="rect">
            <a:avLst/>
          </a:prstGeom>
          <a:solidFill>
            <a:srgbClr val="F9F8FC"/>
          </a:solidFill>
          <a:ln cap="flat" cmpd="sng" w="9525">
            <a:solidFill>
              <a:srgbClr val="F9F8F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52" name="Google Shape;452;p19"/>
          <p:cNvSpPr/>
          <p:nvPr/>
        </p:nvSpPr>
        <p:spPr>
          <a:xfrm>
            <a:off x="6260644" y="2478017"/>
            <a:ext cx="73200" cy="1902000"/>
          </a:xfrm>
          <a:prstGeom prst="rect">
            <a:avLst/>
          </a:prstGeom>
          <a:solidFill>
            <a:srgbClr val="0069FF"/>
          </a:solidFill>
          <a:ln cap="flat" cmpd="sng" w="9525">
            <a:solidFill>
              <a:srgbClr val="0069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53" name="Google Shape;453;p19"/>
          <p:cNvSpPr/>
          <p:nvPr/>
        </p:nvSpPr>
        <p:spPr>
          <a:xfrm>
            <a:off x="6461812" y="2642609"/>
            <a:ext cx="4827900" cy="31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69FF"/>
              </a:buClr>
              <a:buSzPts val="1820"/>
              <a:buFont typeface="Arial"/>
              <a:buNone/>
            </a:pPr>
            <a:r>
              <a:rPr b="1" i="0" lang="en-US" sz="1820" u="none" cap="none" strike="noStrike">
                <a:solidFill>
                  <a:srgbClr val="0069FF"/>
                </a:solidFill>
                <a:latin typeface="Arial"/>
                <a:ea typeface="Arial"/>
                <a:cs typeface="Arial"/>
                <a:sym typeface="Arial"/>
              </a:rPr>
              <a:t>В чем практическая ценность</a:t>
            </a:r>
            <a:endParaRPr b="0" i="0" sz="182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4" name="Google Shape;454;p19"/>
          <p:cNvSpPr/>
          <p:nvPr/>
        </p:nvSpPr>
        <p:spPr>
          <a:xfrm>
            <a:off x="6461812" y="3081521"/>
            <a:ext cx="4800600" cy="1170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C3945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3C3945"/>
                </a:solidFill>
                <a:latin typeface="Arial"/>
                <a:ea typeface="Arial"/>
                <a:cs typeface="Arial"/>
                <a:sym typeface="Arial"/>
              </a:rPr>
              <a:t>Уменьшение доступа к DRAM; возможность ускорить memory-bound инференс на </a:t>
            </a:r>
            <a:r>
              <a:rPr lang="en-US" sz="1800">
                <a:solidFill>
                  <a:srgbClr val="3C3945"/>
                </a:solidFill>
              </a:rPr>
              <a:t>любом</a:t>
            </a:r>
            <a:r>
              <a:rPr b="0" i="0" lang="en-US" sz="1800" u="none" cap="none" strike="noStrike">
                <a:solidFill>
                  <a:srgbClr val="3C3945"/>
                </a:solidFill>
                <a:latin typeface="Arial"/>
                <a:ea typeface="Arial"/>
                <a:cs typeface="Arial"/>
                <a:sym typeface="Arial"/>
              </a:rPr>
              <a:t> железе.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5" name="Google Shape;455;p19"/>
          <p:cNvSpPr/>
          <p:nvPr/>
        </p:nvSpPr>
        <p:spPr>
          <a:xfrm>
            <a:off x="676656" y="3182112"/>
            <a:ext cx="5212080" cy="1975104"/>
          </a:xfrm>
          <a:prstGeom prst="rect">
            <a:avLst/>
          </a:prstGeom>
          <a:solidFill>
            <a:srgbClr val="F9F8FC"/>
          </a:solidFill>
          <a:ln cap="flat" cmpd="sng" w="9525">
            <a:solidFill>
              <a:srgbClr val="F9F8F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56" name="Google Shape;456;p19"/>
          <p:cNvSpPr/>
          <p:nvPr/>
        </p:nvSpPr>
        <p:spPr>
          <a:xfrm>
            <a:off x="676656" y="3182112"/>
            <a:ext cx="73152" cy="1975104"/>
          </a:xfrm>
          <a:prstGeom prst="rect">
            <a:avLst/>
          </a:prstGeom>
          <a:solidFill>
            <a:srgbClr val="F93F41"/>
          </a:solidFill>
          <a:ln cap="flat" cmpd="sng" w="9525">
            <a:solidFill>
              <a:srgbClr val="F93F4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57" name="Google Shape;457;p19"/>
          <p:cNvSpPr/>
          <p:nvPr/>
        </p:nvSpPr>
        <p:spPr>
          <a:xfrm>
            <a:off x="877824" y="3346704"/>
            <a:ext cx="4828032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93F41"/>
              </a:buClr>
              <a:buSzPts val="1820"/>
              <a:buFont typeface="Arial"/>
              <a:buNone/>
            </a:pPr>
            <a:r>
              <a:rPr b="1" i="0" lang="en-US" sz="1820" u="none" cap="none" strike="noStrike">
                <a:solidFill>
                  <a:srgbClr val="F93F41"/>
                </a:solidFill>
                <a:latin typeface="Arial"/>
                <a:ea typeface="Arial"/>
                <a:cs typeface="Arial"/>
                <a:sym typeface="Arial"/>
              </a:rPr>
              <a:t>Что нельзя заключить</a:t>
            </a:r>
            <a:endParaRPr b="0" i="0" sz="182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8" name="Google Shape;458;p19"/>
          <p:cNvSpPr/>
          <p:nvPr/>
        </p:nvSpPr>
        <p:spPr>
          <a:xfrm>
            <a:off x="877824" y="3785616"/>
            <a:ext cx="4800600" cy="124358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C3945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3C3945"/>
                </a:solidFill>
                <a:latin typeface="Arial"/>
                <a:ea typeface="Arial"/>
                <a:cs typeface="Arial"/>
                <a:sym typeface="Arial"/>
              </a:rPr>
              <a:t>Почти 4</a:t>
            </a:r>
            <a:r>
              <a:rPr lang="en-US" sz="1800">
                <a:solidFill>
                  <a:srgbClr val="3C3945"/>
                </a:solidFill>
              </a:rPr>
              <a:t>x</a:t>
            </a:r>
            <a:r>
              <a:rPr b="0" i="0" lang="en-US" sz="1800" u="none" cap="none" strike="noStrike">
                <a:solidFill>
                  <a:srgbClr val="3C3945"/>
                </a:solidFill>
                <a:latin typeface="Arial"/>
                <a:ea typeface="Arial"/>
                <a:cs typeface="Arial"/>
                <a:sym typeface="Arial"/>
              </a:rPr>
              <a:t> на FPGA не означает гарантированное ускорение LLM.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63" name="Shape 4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/mnt/data/itmo_work/itmo_neon_inspired.jpg" id="464" name="Google Shape;464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1695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465" name="Google Shape;465;p20"/>
          <p:cNvSpPr/>
          <p:nvPr/>
        </p:nvSpPr>
        <p:spPr>
          <a:xfrm>
            <a:off x="5330952" y="914400"/>
            <a:ext cx="1499616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Arial"/>
              <a:buNone/>
            </a:pPr>
            <a:r>
              <a:rPr b="1" i="0" lang="en-US" spc="-200" sz="36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ITMO</a:t>
            </a:r>
            <a:endParaRPr b="0" i="0" sz="3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6" name="Google Shape;466;p20"/>
          <p:cNvSpPr/>
          <p:nvPr/>
        </p:nvSpPr>
        <p:spPr>
          <a:xfrm>
            <a:off x="5358384" y="1444752"/>
            <a:ext cx="1572768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80"/>
              <a:buFont typeface="Arial"/>
              <a:buNone/>
            </a:pPr>
            <a:r>
              <a:rPr b="1" i="0" lang="en-US" spc="240" sz="108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UNIVERSITY</a:t>
            </a:r>
            <a:endParaRPr b="0" i="0" sz="108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7" name="Google Shape;467;p20"/>
          <p:cNvSpPr/>
          <p:nvPr/>
        </p:nvSpPr>
        <p:spPr>
          <a:xfrm>
            <a:off x="957001" y="3421276"/>
            <a:ext cx="10278000" cy="77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300"/>
              <a:buFont typeface="Arial"/>
              <a:buNone/>
            </a:pPr>
            <a:r>
              <a:rPr b="1" i="0" lang="en-US" sz="43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Спасибо за внимание!</a:t>
            </a:r>
            <a:endParaRPr b="0" i="0" sz="43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8" name="Google Shape;468;p20"/>
          <p:cNvSpPr/>
          <p:nvPr/>
        </p:nvSpPr>
        <p:spPr>
          <a:xfrm>
            <a:off x="2971800" y="5586984"/>
            <a:ext cx="6199632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40"/>
              <a:buFont typeface="Arial"/>
              <a:buNone/>
            </a:pPr>
            <a:r>
              <a:t/>
            </a:r>
            <a:endParaRPr b="0" i="0" sz="154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