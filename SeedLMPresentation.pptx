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Поменяйте [ФИО]. Фон — воссозданная графика по мотивам ITMO Beamer; не оригинальный рисунок.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arxiv.org/pdf/2410.10714" TargetMode="External"/><Relationship Id="rId5" Type="http://schemas.openxmlformats.org/officeDocument/2006/relationships/hyperlink" Target="https://arxiv.org/pdf/2410.10714" TargetMode="External"/><Relationship Id="rId6" Type="http://schemas.openxmlformats.org/officeDocument/2006/relationships/hyperlink" Target="https://ru.overleaf.com/latex/templates/itmo-beamer-theme/fpttrgnmqwsb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itmo_work/itmo_neon_inspired.jp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312664" y="722376"/>
            <a:ext cx="1574597" cy="595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80"/>
              <a:buFont typeface="Arial"/>
              <a:buNone/>
            </a:pPr>
            <a:r>
              <a:rPr b="1" i="0" lang="en-US" spc="-200" sz="3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ITMO</a:t>
            </a:r>
            <a:endParaRPr b="0" i="0" sz="3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341468" y="1279246"/>
            <a:ext cx="1651406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4"/>
              <a:buFont typeface="Arial"/>
              <a:buNone/>
            </a:pPr>
            <a:r>
              <a:rPr b="1" i="0" lang="en-US" spc="240" sz="1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 b="0" i="0" sz="113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9900" y="2779006"/>
            <a:ext cx="10360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SeedLM</a:t>
            </a:r>
            <a:endParaRPr b="0" i="0" sz="4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622605" y="3633959"/>
            <a:ext cx="90891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Compressing LLM Weights into Seeds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Pseudo-Random Generators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227994" y="6454673"/>
            <a:ext cx="4531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DFF8"/>
              </a:buClr>
              <a:buSzPts val="1900"/>
              <a:buFont typeface="Arial"/>
              <a:buNone/>
            </a:pPr>
            <a:r>
              <a:rPr lang="en-US" sz="800">
                <a:solidFill>
                  <a:srgbClr val="EADFF8"/>
                </a:solidFill>
              </a:rPr>
              <a:t>Прямая ссылка на</a:t>
            </a:r>
            <a:r>
              <a:rPr b="0" i="0" lang="en-US" sz="800" u="none" cap="none" strike="noStrike">
                <a:solidFill>
                  <a:srgbClr val="EADFF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стать</a:t>
            </a:r>
            <a:r>
              <a:rPr lang="en-US" sz="800" u="sng">
                <a:solidFill>
                  <a:schemeClr val="hlink"/>
                </a:solidFill>
                <a:hlinkClick r:id="rId5"/>
              </a:rPr>
              <a:t>ю</a:t>
            </a:r>
            <a:r>
              <a:rPr lang="en-US" sz="800">
                <a:solidFill>
                  <a:srgbClr val="EADFF8"/>
                </a:solidFill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901475" y="4994320"/>
            <a:ext cx="8531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2F9"/>
              </a:buClr>
              <a:buSzPts val="1370"/>
              <a:buFont typeface="Arial"/>
              <a:buNone/>
            </a:pPr>
            <a:r>
              <a:rPr lang="en-US" sz="1370">
                <a:solidFill>
                  <a:srgbClr val="EDE2F9"/>
                </a:solidFill>
              </a:rPr>
              <a:t>Мясников Никита Артемович</a:t>
            </a:r>
            <a:r>
              <a:rPr b="0" i="0" lang="en-US" sz="1370" u="none" cap="none" strike="noStrike">
                <a:solidFill>
                  <a:srgbClr val="EDE2F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370">
                <a:solidFill>
                  <a:srgbClr val="EDE2F9"/>
                </a:solidFill>
              </a:rPr>
            </a:br>
            <a:r>
              <a:rPr b="0" i="0" lang="en-US" sz="1370" u="none" cap="none" strike="noStrike">
                <a:solidFill>
                  <a:srgbClr val="EDE2F9"/>
                </a:solidFill>
                <a:latin typeface="Arial"/>
                <a:ea typeface="Arial"/>
                <a:cs typeface="Arial"/>
                <a:sym typeface="Arial"/>
              </a:rPr>
              <a:t> Санкт-Петербург, 2026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424750" y="6391825"/>
            <a:ext cx="3917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E4FA"/>
              </a:buClr>
              <a:buSzPts val="2000"/>
              <a:buFont typeface="Arial"/>
              <a:buNone/>
            </a:pPr>
            <a:r>
              <a:rPr lang="en-US" sz="800">
                <a:solidFill>
                  <a:srgbClr val="EFE4FA"/>
                </a:solidFill>
              </a:rPr>
              <a:t>За основу презентации был взят </a:t>
            </a:r>
            <a:r>
              <a:rPr lang="en-US" sz="800" u="sng">
                <a:solidFill>
                  <a:schemeClr val="hlink"/>
                </a:solidFill>
                <a:hlinkClick r:id="rId6"/>
              </a:rPr>
              <a:t>этот</a:t>
            </a:r>
            <a:r>
              <a:rPr lang="en-US" sz="800">
                <a:solidFill>
                  <a:srgbClr val="EFE4FA"/>
                </a:solidFill>
              </a:rPr>
              <a:t> шаблон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План презентации: по структуре статьи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СТРУКТУРА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1</a:t>
            </a:r>
            <a:r>
              <a:rPr lang="en-US" sz="1020">
                <a:solidFill>
                  <a:srgbClr val="666273"/>
                </a:solidFill>
              </a:rPr>
              <a:t>-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2/19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31520" y="1042416"/>
            <a:ext cx="10716768" cy="768096"/>
          </a:xfrm>
          <a:prstGeom prst="rect">
            <a:avLst/>
          </a:prstGeom>
          <a:solidFill>
            <a:srgbClr val="F8F6FC"/>
          </a:solidFill>
          <a:ln cap="flat" cmpd="sng" w="9525">
            <a:solidFill>
              <a:srgbClr val="F8F6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41832" y="122529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554480" y="1197864"/>
            <a:ext cx="2011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0" y="1197864"/>
            <a:ext cx="65836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610"/>
              <a:buFont typeface="Arial"/>
              <a:buNone/>
            </a:pPr>
            <a:r>
              <a:rPr b="0" i="0" lang="en-US" sz="161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Зачем сжимать веса LLM</a:t>
            </a:r>
            <a:endParaRPr b="0" i="0" sz="1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561320" y="125272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с. 1</a:t>
            </a:r>
            <a:r>
              <a:rPr lang="en-US" sz="1260">
                <a:solidFill>
                  <a:srgbClr val="666273"/>
                </a:solidFill>
              </a:rPr>
              <a:t>-</a:t>
            </a: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31520" y="1984248"/>
            <a:ext cx="10716768" cy="7680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41832" y="216712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54480" y="2139696"/>
            <a:ext cx="2011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Related 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57600" y="2139696"/>
            <a:ext cx="65836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610"/>
              <a:buFont typeface="Arial"/>
              <a:buNone/>
            </a:pPr>
            <a:r>
              <a:rPr b="0" i="0" lang="en-US" sz="161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Чем SeedLM отличается от AWQ, QuIP#, OmniQuant</a:t>
            </a:r>
            <a:endParaRPr b="0" i="0" sz="1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561320" y="21945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с. 2</a:t>
            </a:r>
            <a:r>
              <a:rPr lang="en-US" sz="1260">
                <a:solidFill>
                  <a:srgbClr val="666273"/>
                </a:solidFill>
              </a:rPr>
              <a:t>-</a:t>
            </a: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31520" y="2926080"/>
            <a:ext cx="10716768" cy="768096"/>
          </a:xfrm>
          <a:prstGeom prst="rect">
            <a:avLst/>
          </a:prstGeom>
          <a:solidFill>
            <a:srgbClr val="F8F6FC"/>
          </a:solidFill>
          <a:ln cap="flat" cmpd="sng" w="9525">
            <a:solidFill>
              <a:srgbClr val="F8F6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41832" y="3108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54480" y="3081528"/>
            <a:ext cx="2011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0" y="3081528"/>
            <a:ext cx="65836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610"/>
              <a:buFont typeface="Arial"/>
              <a:buNone/>
            </a:pPr>
            <a:r>
              <a:rPr b="0" i="0" lang="en-US" sz="161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LFSR, матрица U(s), поиск seed, битовый бюджет</a:t>
            </a:r>
            <a:endParaRPr b="0" i="0" sz="1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561320" y="313639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с. 3</a:t>
            </a:r>
            <a:r>
              <a:rPr lang="en-US" sz="1260">
                <a:solidFill>
                  <a:srgbClr val="666273"/>
                </a:solidFill>
              </a:rPr>
              <a:t>-</a:t>
            </a: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31520" y="3867912"/>
            <a:ext cx="10716768" cy="7680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941832" y="4050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54480" y="4023360"/>
            <a:ext cx="2011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Experiments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657600" y="4023360"/>
            <a:ext cx="65836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610"/>
              <a:buFont typeface="Arial"/>
              <a:buNone/>
            </a:pPr>
            <a:r>
              <a:rPr b="0" i="0" lang="en-US" sz="161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Перплексия, zero-shot accuracy и FPGA</a:t>
            </a:r>
            <a:endParaRPr b="0" i="0" sz="1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561320" y="407822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с. 7</a:t>
            </a:r>
            <a:r>
              <a:rPr lang="en-US" sz="1260">
                <a:solidFill>
                  <a:srgbClr val="666273"/>
                </a:solidFill>
              </a:rPr>
              <a:t>-</a:t>
            </a: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31520" y="4809744"/>
            <a:ext cx="10716768" cy="768096"/>
          </a:xfrm>
          <a:prstGeom prst="rect">
            <a:avLst/>
          </a:prstGeom>
          <a:solidFill>
            <a:srgbClr val="F8F6FC"/>
          </a:solidFill>
          <a:ln cap="flat" cmpd="sng" w="9525">
            <a:solidFill>
              <a:srgbClr val="F8F6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41832" y="499262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554480" y="4965192"/>
            <a:ext cx="2011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657600" y="4965192"/>
            <a:ext cx="65836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610"/>
              <a:buFont typeface="Arial"/>
              <a:buNone/>
            </a:pPr>
            <a:r>
              <a:rPr b="0" i="0" lang="en-US" sz="161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Выводы, ограничения и план репликации</a:t>
            </a:r>
            <a:endParaRPr b="0" i="0" sz="1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561320" y="5020056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с. 10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Introduction </a:t>
            </a:r>
            <a:r>
              <a:rPr b="1" lang="en-US" sz="2250">
                <a:solidFill>
                  <a:srgbClr val="FFFFFF"/>
                </a:solidFill>
              </a:rPr>
              <a:t>- 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главный узкий момент: память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1</a:t>
            </a:r>
            <a:r>
              <a:rPr lang="en-US" sz="1020">
                <a:solidFill>
                  <a:srgbClr val="666273"/>
                </a:solidFill>
              </a:rPr>
              <a:t>-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3/19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85216" y="1005840"/>
            <a:ext cx="5330952" cy="1847088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85216" y="1005840"/>
            <a:ext cx="73152" cy="1847088"/>
          </a:xfrm>
          <a:prstGeom prst="rect">
            <a:avLst/>
          </a:prstGeom>
          <a:solidFill>
            <a:srgbClr val="F93F41"/>
          </a:solidFill>
          <a:ln cap="flat" cmpd="sng" w="9525">
            <a:solidFill>
              <a:srgbClr val="F93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786384" y="1170432"/>
            <a:ext cx="4946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3F41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F93F41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86384" y="1609344"/>
            <a:ext cx="49194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При autoregressive generation модель многократно считывает веса. Скорость часто ограничена пропускной способностью памяти, а не FLOPS.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90488" y="1005840"/>
            <a:ext cx="5349240" cy="1847088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190488" y="1005840"/>
            <a:ext cx="73152" cy="1847088"/>
          </a:xfrm>
          <a:prstGeom prst="rect">
            <a:avLst/>
          </a:prstGeom>
          <a:solidFill>
            <a:srgbClr val="0069FF"/>
          </a:solidFill>
          <a:ln cap="flat" cmpd="sng" w="9525">
            <a:solidFill>
              <a:srgbClr val="006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391656" y="1170432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Гипотеза SeedLM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391656" y="1609344"/>
            <a:ext cx="4937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Меньше читать из памяти, а недостающие значения вычислять из компактного seed и коэффициентов.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67512" y="3172968"/>
            <a:ext cx="10863072" cy="2386584"/>
          </a:xfrm>
          <a:prstGeom prst="rect">
            <a:avLst/>
          </a:prstGeom>
          <a:solidFill>
            <a:srgbClr val="F7F3FF"/>
          </a:solidFill>
          <a:ln cap="flat" cmpd="sng" w="9525">
            <a:solidFill>
              <a:srgbClr val="F7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69264" y="3657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16 бит / вес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014216" y="3675888"/>
            <a:ext cx="10058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7E10FF"/>
                </a:solidFill>
              </a:rPr>
              <a:t>&gt;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29200" y="365760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7E10FF"/>
                </a:solidFill>
              </a:rPr>
              <a:t>3-4 </a:t>
            </a:r>
            <a:r>
              <a:rPr b="1" i="0" lang="en-US" sz="27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бита / вес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 rot="5400000">
            <a:off x="8458158" y="3657498"/>
            <a:ext cx="5943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7E10FF"/>
                </a:solidFill>
              </a:rPr>
              <a:t>&gt;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180576" y="3575304"/>
            <a:ext cx="192938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Меньше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DRAM reads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96696" y="4882896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C3945"/>
                </a:solidFill>
              </a:rPr>
              <a:t>Т.е. Обмен - д</a:t>
            </a: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ополнительные вычисления вместо дорогих обращений к DRAM.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Related Work </a:t>
            </a:r>
            <a:r>
              <a:rPr b="1" lang="en-US" sz="2250">
                <a:solidFill>
                  <a:srgbClr val="FFFFFF"/>
                </a:solidFill>
              </a:rPr>
              <a:t>- 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что уже было известно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6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6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2</a:t>
            </a:r>
            <a:r>
              <a:rPr lang="en-US" sz="1020">
                <a:solidFill>
                  <a:srgbClr val="666273"/>
                </a:solidFill>
              </a:rPr>
              <a:t>-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4/19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85216" y="1005840"/>
            <a:ext cx="5303520" cy="1901952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85216" y="1005840"/>
            <a:ext cx="73152" cy="1901952"/>
          </a:xfrm>
          <a:prstGeom prst="rect">
            <a:avLst/>
          </a:prstGeom>
          <a:solidFill>
            <a:srgbClr val="0069FF"/>
          </a:solidFill>
          <a:ln cap="flat" cmpd="sng" w="9525">
            <a:solidFill>
              <a:srgbClr val="006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786384" y="1170432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Random basis: PRANC / NOLA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86384" y="1609344"/>
            <a:ext cx="48920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Сжатие через линейные комбинации случайных базисов. SeedLM дополнительно оптимизирует seed и использует аппаратно простой LFSR.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172200" y="1005840"/>
            <a:ext cx="5303520" cy="1901952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172200" y="1005840"/>
            <a:ext cx="73152" cy="1901952"/>
          </a:xfrm>
          <a:prstGeom prst="rect">
            <a:avLst/>
          </a:prstGeom>
          <a:solidFill>
            <a:srgbClr val="008C83"/>
          </a:solidFill>
          <a:ln cap="flat" cmpd="sng" w="9525">
            <a:solidFill>
              <a:srgbClr val="008C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373368" y="1170432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C83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8C83"/>
                </a:solidFill>
                <a:latin typeface="Arial"/>
                <a:ea typeface="Arial"/>
                <a:cs typeface="Arial"/>
                <a:sym typeface="Arial"/>
              </a:rPr>
              <a:t>Data-free compression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373368" y="1609344"/>
            <a:ext cx="48920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Сжатие без калибровочных текстов; веса уже обученной модели остаются единственным необходимым входом.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85216" y="3127248"/>
            <a:ext cx="5303520" cy="201168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85216" y="3127248"/>
            <a:ext cx="73152" cy="2011680"/>
          </a:xfrm>
          <a:prstGeom prst="rect">
            <a:avLst/>
          </a:prstGeom>
          <a:solidFill>
            <a:srgbClr val="F93F41"/>
          </a:solidFill>
          <a:ln cap="flat" cmpd="sng" w="9525">
            <a:solidFill>
              <a:srgbClr val="F93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86384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3F41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F93F41"/>
                </a:solidFill>
                <a:latin typeface="Arial"/>
                <a:ea typeface="Arial"/>
                <a:cs typeface="Arial"/>
                <a:sym typeface="Arial"/>
              </a:rPr>
              <a:t>Calibration-based: AWQ / GPTQ / QuIP#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86384" y="3730752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Используют калибровочные активации или оценки чувствительности весов; могут обеспечивать высокое качество, но требуют данных.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172200" y="3127248"/>
            <a:ext cx="5303520" cy="201168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172200" y="3127248"/>
            <a:ext cx="73152" cy="2011680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373368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Отличие SeedLM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373368" y="3730752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Никакого fine-tuning и калибровки: для каждого блока весов ищется seed и небольшой набор коэффициентов.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en-US" sz="2250">
                <a:solidFill>
                  <a:srgbClr val="FFFFFF"/>
                </a:solidFill>
              </a:rPr>
              <a:t>О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сновная идея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7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7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3, рис. 2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5/19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69000" y="765563"/>
            <a:ext cx="10854000" cy="5436600"/>
          </a:xfrm>
          <a:prstGeom prst="rect">
            <a:avLst/>
          </a:prstGeom>
          <a:solidFill>
            <a:srgbClr val="F8F7FB"/>
          </a:solidFill>
          <a:ln cap="flat" cmpd="sng" w="9525">
            <a:solidFill>
              <a:srgbClr val="F8F7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445809" y="1536675"/>
            <a:ext cx="3685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w </a:t>
            </a:r>
            <a:r>
              <a:rPr b="1" lang="en-US" sz="4100">
                <a:solidFill>
                  <a:srgbClr val="7E10FF"/>
                </a:solidFill>
              </a:rPr>
              <a:t>~=</a:t>
            </a:r>
            <a:r>
              <a:rPr b="1" i="0" lang="en-US" sz="41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 U(s) </a:t>
            </a:r>
            <a:r>
              <a:rPr b="1" lang="en-US" sz="4100">
                <a:solidFill>
                  <a:srgbClr val="7E10FF"/>
                </a:solidFill>
              </a:rPr>
              <a:t>*</a:t>
            </a:r>
            <a:r>
              <a:rPr b="1" i="0" lang="en-US" sz="41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25038" y="3592068"/>
            <a:ext cx="3218700" cy="1197900"/>
          </a:xfrm>
          <a:prstGeom prst="rect">
            <a:avLst/>
          </a:prstGeom>
          <a:solidFill>
            <a:srgbClr val="E9E7F0"/>
          </a:solidFill>
          <a:ln cap="flat" cmpd="sng" w="9525">
            <a:solidFill>
              <a:srgbClr val="E9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892013" y="3832191"/>
            <a:ext cx="3218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998239" y="4230059"/>
            <a:ext cx="307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470"/>
              <a:buFont typeface="Arial"/>
              <a:buNone/>
            </a:pPr>
            <a:r>
              <a:rPr lang="en-US" sz="1470">
                <a:solidFill>
                  <a:srgbClr val="3C3945"/>
                </a:solidFill>
              </a:rPr>
              <a:t>Weight Block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84438" y="3592068"/>
            <a:ext cx="3218700" cy="1197900"/>
          </a:xfrm>
          <a:prstGeom prst="rect">
            <a:avLst/>
          </a:prstGeom>
          <a:solidFill>
            <a:srgbClr val="E6EEFF"/>
          </a:solidFill>
          <a:ln cap="flat" cmpd="sng" w="9525">
            <a:solidFill>
              <a:srgbClr val="E6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84438" y="3832191"/>
            <a:ext cx="3218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U(s)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637553" y="4265897"/>
            <a:ext cx="307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470"/>
              <a:buFont typeface="Arial"/>
              <a:buNone/>
            </a:pPr>
            <a:r>
              <a:rPr lang="en-US" sz="1470">
                <a:solidFill>
                  <a:srgbClr val="3C3945"/>
                </a:solidFill>
              </a:rPr>
              <a:t>Random Matrix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243839" y="3592068"/>
            <a:ext cx="3218700" cy="1197900"/>
          </a:xfrm>
          <a:prstGeom prst="rect">
            <a:avLst/>
          </a:prstGeom>
          <a:solidFill>
            <a:srgbClr val="EFE0FF"/>
          </a:solidFill>
          <a:ln cap="flat" cmpd="sng" w="9525">
            <a:solidFill>
              <a:srgbClr val="EFE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243839" y="3832191"/>
            <a:ext cx="3218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317041" y="4301284"/>
            <a:ext cx="307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470"/>
              <a:buFont typeface="Arial"/>
              <a:buNone/>
            </a:pPr>
            <a:r>
              <a:rPr lang="en-US" sz="1470">
                <a:solidFill>
                  <a:srgbClr val="3C3945"/>
                </a:solidFill>
              </a:rPr>
              <a:t>Coefficients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62222" y="4993472"/>
            <a:ext cx="10058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Хран</a:t>
            </a:r>
            <a:r>
              <a:rPr b="1" lang="en-US" sz="2050">
                <a:solidFill>
                  <a:srgbClr val="3C3945"/>
                </a:solidFill>
              </a:rPr>
              <a:t>ение</a:t>
            </a:r>
            <a:r>
              <a:rPr b="1" i="0" lang="en-US" sz="205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НЕ всех вес</a:t>
            </a:r>
            <a:r>
              <a:rPr b="1" lang="en-US" sz="2050">
                <a:solidFill>
                  <a:srgbClr val="3C3945"/>
                </a:solidFill>
              </a:rPr>
              <a:t>ов</a:t>
            </a:r>
            <a:r>
              <a:rPr b="1" i="0" lang="en-US" sz="205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, а только seed + квантованные коэффициенты + общий показатель степени.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225" y="794600"/>
            <a:ext cx="45720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</a:t>
            </a:r>
            <a:r>
              <a:rPr b="1" lang="en-US" sz="2250">
                <a:solidFill>
                  <a:srgbClr val="FFFFFF"/>
                </a:solidFill>
              </a:rPr>
              <a:t>Г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енератор матрицы из seed (</a:t>
            </a:r>
            <a:r>
              <a:rPr b="1" lang="en-US" sz="2250">
                <a:solidFill>
                  <a:schemeClr val="lt1"/>
                </a:solidFill>
              </a:rPr>
              <a:t>Linear Feedback Shift Register 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8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4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3.1, рис. 3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6/19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0080" y="1060704"/>
            <a:ext cx="5230368" cy="2084832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640080" y="1060704"/>
            <a:ext cx="73152" cy="20848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41248" y="1225296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LFSR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41248" y="1664208"/>
            <a:ext cx="481888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Линейный регистр сдвига: следующее состояние строится из XOR выбранных битов и сдвига текущего регистра.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144768" y="1060704"/>
            <a:ext cx="5230368" cy="2084832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144768" y="1060704"/>
            <a:ext cx="73152" cy="2084832"/>
          </a:xfrm>
          <a:prstGeom prst="rect">
            <a:avLst/>
          </a:prstGeom>
          <a:solidFill>
            <a:srgbClr val="0069FF"/>
          </a:solidFill>
          <a:ln cap="flat" cmpd="sng" w="9525">
            <a:solidFill>
              <a:srgbClr val="006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345936" y="1225296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Свойство периода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345936" y="1664208"/>
            <a:ext cx="481888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При примитивном полиноме и ненулевом seed проходит по 2^K </a:t>
            </a:r>
            <a:r>
              <a:rPr lang="en-US" sz="1800">
                <a:solidFill>
                  <a:srgbClr val="3C3945"/>
                </a:solidFill>
              </a:rPr>
              <a:t>-</a:t>
            </a: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1 состояниям до повторения.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13232" y="3502152"/>
            <a:ext cx="10753200" cy="1426500"/>
          </a:xfrm>
          <a:prstGeom prst="rect">
            <a:avLst/>
          </a:prstGeom>
          <a:solidFill>
            <a:srgbClr val="F1EAFF"/>
          </a:solidFill>
          <a:ln cap="flat" cmpd="sng" w="9525">
            <a:solidFill>
              <a:srgbClr val="F1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969264" y="381304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450"/>
              <a:buFont typeface="Arial"/>
              <a:buNone/>
            </a:pP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seed </a:t>
            </a:r>
            <a:r>
              <a:rPr b="1" lang="en-US" sz="2450">
                <a:solidFill>
                  <a:srgbClr val="7E10FF"/>
                </a:solidFill>
              </a:rPr>
              <a:t>&gt; 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lang="en-US" sz="2450">
                <a:solidFill>
                  <a:srgbClr val="7E10FF"/>
                </a:solidFill>
              </a:rPr>
              <a:t>b2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1" lang="en-US" sz="2450">
                <a:solidFill>
                  <a:srgbClr val="7E10FF"/>
                </a:solidFill>
              </a:rPr>
              <a:t>b1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1" lang="en-US" sz="2450">
                <a:solidFill>
                  <a:srgbClr val="7E10FF"/>
                </a:solidFill>
              </a:rPr>
              <a:t>b0 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b="1" lang="en-US" sz="2450">
                <a:solidFill>
                  <a:srgbClr val="7E10FF"/>
                </a:solidFill>
              </a:rPr>
              <a:t>&gt; 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XOR </a:t>
            </a:r>
            <a:r>
              <a:rPr b="1" lang="en-US" sz="2450">
                <a:solidFill>
                  <a:srgbClr val="7E10FF"/>
                </a:solidFill>
              </a:rPr>
              <a:t>&gt; 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сдвиг </a:t>
            </a:r>
            <a:r>
              <a:rPr b="1" lang="en-US" sz="2450">
                <a:solidFill>
                  <a:srgbClr val="7E10FF"/>
                </a:solidFill>
              </a:rPr>
              <a:t>&gt; 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новое состояние </a:t>
            </a:r>
            <a:r>
              <a:rPr b="1" lang="en-US" sz="2450">
                <a:solidFill>
                  <a:srgbClr val="7E10FF"/>
                </a:solidFill>
              </a:rPr>
              <a:t>&gt; </a:t>
            </a:r>
            <a:r>
              <a:rPr b="1" i="0" lang="en-US" sz="24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95528" y="5202936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Для K = 16:65 535 возможных ненулевых seed. Генерация детерминирована.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Нормализация U(s) и ошибка восстановления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EBDAFF"/>
                </a:solidFill>
              </a:rPr>
              <a:t>3</a:t>
            </a: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.2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5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3.2, формулы (1)</a:t>
            </a:r>
            <a:r>
              <a:rPr lang="en-US" sz="1020">
                <a:solidFill>
                  <a:srgbClr val="666273"/>
                </a:solidFill>
              </a:rPr>
              <a:t>-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7/19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005840" y="288036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1. LFSR создаёт целочисленную матрицу V(s).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005840" y="3547872"/>
            <a:ext cx="1005840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2. Нормализация переносит значения в диапазон примерно [</a:t>
            </a:r>
            <a:r>
              <a:rPr lang="en-US" sz="2000">
                <a:solidFill>
                  <a:srgbClr val="14131A"/>
                </a:solidFill>
              </a:rPr>
              <a:t>-</a:t>
            </a: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1, 1].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005840" y="4343400"/>
            <a:ext cx="98755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3. Цель </a:t>
            </a:r>
            <a:r>
              <a:rPr lang="en-US" sz="2000">
                <a:solidFill>
                  <a:srgbClr val="14131A"/>
                </a:solidFill>
              </a:rPr>
              <a:t>- </a:t>
            </a: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минимизировать ||w − U(s)t|| </a:t>
            </a:r>
            <a:r>
              <a:rPr lang="en-US" sz="2000">
                <a:solidFill>
                  <a:srgbClr val="14131A"/>
                </a:solidFill>
              </a:rPr>
              <a:t>^ 2</a:t>
            </a: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923544" y="5266944"/>
            <a:ext cx="10332720" cy="603504"/>
          </a:xfrm>
          <a:prstGeom prst="rect">
            <a:avLst/>
          </a:prstGeom>
          <a:solidFill>
            <a:srgbClr val="EFF5FF"/>
          </a:solidFill>
          <a:ln cap="flat" cmpd="sng" w="9525">
            <a:solidFill>
              <a:srgbClr val="EFF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088136" y="5394960"/>
            <a:ext cx="100126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Подсчет вручную: выбрать K = 3, seed = 4 и построить маленькую U(s).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750" y="1346090"/>
            <a:ext cx="3823659" cy="8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Квантование коэффициентов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10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5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8/19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45240" y="1819642"/>
            <a:ext cx="10698600" cy="1051500"/>
          </a:xfrm>
          <a:prstGeom prst="rect">
            <a:avLst/>
          </a:prstGeom>
          <a:solidFill>
            <a:srgbClr val="EFF2FA"/>
          </a:solidFill>
          <a:ln cap="flat" cmpd="sng" w="9525">
            <a:solidFill>
              <a:srgbClr val="EF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745240" y="1819642"/>
            <a:ext cx="100500" cy="1051500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992128" y="2002522"/>
            <a:ext cx="1965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4 бита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2884935" y="1965946"/>
            <a:ext cx="8275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20"/>
              <a:buFont typeface="Arial"/>
              <a:buNone/>
            </a:pP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Каждый коэффициент </a:t>
            </a:r>
            <a:r>
              <a:rPr lang="en-US" sz="2020">
                <a:solidFill>
                  <a:srgbClr val="3C3945"/>
                </a:solidFill>
              </a:rPr>
              <a:t>q</a:t>
            </a:r>
            <a:r>
              <a:rPr lang="en-US" sz="1320">
                <a:solidFill>
                  <a:srgbClr val="3C3945"/>
                </a:solidFill>
              </a:rPr>
              <a:t>i</a:t>
            </a: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хранится как целое со знаком (two’s complement).</a:t>
            </a:r>
            <a:endParaRPr b="0" i="0" sz="2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45240" y="3118090"/>
            <a:ext cx="10698600" cy="1051500"/>
          </a:xfrm>
          <a:prstGeom prst="rect">
            <a:avLst/>
          </a:prstGeom>
          <a:solidFill>
            <a:srgbClr val="F6F2FC"/>
          </a:solidFill>
          <a:ln cap="flat" cmpd="sng" w="9525">
            <a:solidFill>
              <a:srgbClr val="F6F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745240" y="3118090"/>
            <a:ext cx="100500" cy="1051500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992128" y="3300970"/>
            <a:ext cx="1965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4 бита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2884935" y="3264394"/>
            <a:ext cx="8275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20"/>
              <a:buFont typeface="Arial"/>
              <a:buNone/>
            </a:pP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Общий показатель степени e хранится один раз на блок.</a:t>
            </a:r>
            <a:endParaRPr b="0" i="0" sz="2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45240" y="4416538"/>
            <a:ext cx="10698600" cy="1051500"/>
          </a:xfrm>
          <a:prstGeom prst="rect">
            <a:avLst/>
          </a:prstGeom>
          <a:solidFill>
            <a:srgbClr val="EFF2FA"/>
          </a:solidFill>
          <a:ln cap="flat" cmpd="sng" w="9525">
            <a:solidFill>
              <a:srgbClr val="EF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745240" y="4416538"/>
            <a:ext cx="100500" cy="1051500"/>
          </a:xfrm>
          <a:prstGeom prst="rect">
            <a:avLst/>
          </a:prstGeom>
          <a:solidFill>
            <a:srgbClr val="F93F41"/>
          </a:solidFill>
          <a:ln cap="flat" cmpd="sng" w="9525">
            <a:solidFill>
              <a:srgbClr val="F93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992128" y="4599418"/>
            <a:ext cx="1965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Формула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2884935" y="4562842"/>
            <a:ext cx="8275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20"/>
              <a:buFont typeface="Arial"/>
              <a:buNone/>
            </a:pP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320">
                <a:solidFill>
                  <a:srgbClr val="3C3945"/>
                </a:solidFill>
              </a:rPr>
              <a:t>i</a:t>
            </a: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0">
                <a:solidFill>
                  <a:srgbClr val="3C3945"/>
                </a:solidFill>
              </a:rPr>
              <a:t>~=</a:t>
            </a: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q</a:t>
            </a:r>
            <a:r>
              <a:rPr lang="en-US" sz="1320">
                <a:solidFill>
                  <a:srgbClr val="3C3945"/>
                </a:solidFill>
              </a:rPr>
              <a:t>i</a:t>
            </a: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0">
                <a:solidFill>
                  <a:srgbClr val="3C3945"/>
                </a:solidFill>
              </a:rPr>
              <a:t>*</a:t>
            </a: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020">
                <a:solidFill>
                  <a:srgbClr val="3C3945"/>
                </a:solidFill>
              </a:rPr>
              <a:t> ^ e</a:t>
            </a: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0">
                <a:solidFill>
                  <a:srgbClr val="3C3945"/>
                </a:solidFill>
              </a:rPr>
              <a:t>- </a:t>
            </a:r>
            <a:r>
              <a:rPr b="0" i="0" lang="en-US" sz="20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аппаратно удобное восстановление сдвигом.</a:t>
            </a:r>
            <a:endParaRPr b="0" i="0" sz="2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Как SeedLM выбирает seed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1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5</a:t>
            </a:r>
            <a:r>
              <a:rPr lang="en-US" sz="1020">
                <a:solidFill>
                  <a:srgbClr val="666273"/>
                </a:solidFill>
              </a:rPr>
              <a:t>-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3.3, алгоритм 1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9/19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57200" y="1655064"/>
            <a:ext cx="2185416" cy="2221992"/>
          </a:xfrm>
          <a:prstGeom prst="rect">
            <a:avLst/>
          </a:prstGeom>
          <a:solidFill>
            <a:srgbClr val="EDE9FB"/>
          </a:solidFill>
          <a:ln cap="flat" cmpd="sng" w="9525">
            <a:solidFill>
              <a:srgbClr val="ED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216152" y="1819656"/>
            <a:ext cx="658368" cy="658368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1216152" y="1920240"/>
            <a:ext cx="658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21792" y="2679192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Перебрать seed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94360" y="3246120"/>
            <a:ext cx="190195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s = 1 … 2^K−1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624413" y="2505450"/>
            <a:ext cx="21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E10FF"/>
                </a:solidFill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2816352" y="1655064"/>
            <a:ext cx="2185416" cy="2221992"/>
          </a:xfrm>
          <a:prstGeom prst="rect">
            <a:avLst/>
          </a:prstGeom>
          <a:solidFill>
            <a:srgbClr val="F2ECFA"/>
          </a:solidFill>
          <a:ln cap="flat" cmpd="sng" w="9525">
            <a:solidFill>
              <a:srgbClr val="F2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3575304" y="1819656"/>
            <a:ext cx="658368" cy="658368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3575304" y="1920240"/>
            <a:ext cx="658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2980944" y="2679192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Построить U(s)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2953512" y="3246120"/>
            <a:ext cx="190195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LFSR → матрица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983480" y="2505456"/>
            <a:ext cx="21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E10FF"/>
                </a:solidFill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175504" y="1655064"/>
            <a:ext cx="2185416" cy="2221992"/>
          </a:xfrm>
          <a:prstGeom prst="rect">
            <a:avLst/>
          </a:prstGeom>
          <a:solidFill>
            <a:srgbClr val="EDE9FB"/>
          </a:solidFill>
          <a:ln cap="flat" cmpd="sng" w="9525">
            <a:solidFill>
              <a:srgbClr val="ED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934456" y="1819656"/>
            <a:ext cx="658368" cy="658368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5934456" y="1920240"/>
            <a:ext cx="658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340096" y="2679192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Найти t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312664" y="3246120"/>
            <a:ext cx="190195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t = U(s)† w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342632" y="2505456"/>
            <a:ext cx="21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E10FF"/>
                </a:solidFill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534656" y="1655064"/>
            <a:ext cx="2185416" cy="2221992"/>
          </a:xfrm>
          <a:prstGeom prst="rect">
            <a:avLst/>
          </a:prstGeom>
          <a:solidFill>
            <a:srgbClr val="F2ECFA"/>
          </a:solidFill>
          <a:ln cap="flat" cmpd="sng" w="9525">
            <a:solidFill>
              <a:srgbClr val="F2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8293608" y="1819656"/>
            <a:ext cx="658368" cy="658368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8293608" y="1920240"/>
            <a:ext cx="658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7699248" y="2679192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Квантовать t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671816" y="3246120"/>
            <a:ext cx="190195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4-bit q и exponent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9701784" y="2505481"/>
            <a:ext cx="21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E10FF"/>
                </a:solidFill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9893808" y="1655064"/>
            <a:ext cx="2185416" cy="2221992"/>
          </a:xfrm>
          <a:prstGeom prst="rect">
            <a:avLst/>
          </a:prstGeom>
          <a:solidFill>
            <a:srgbClr val="EDE9FB"/>
          </a:solidFill>
          <a:ln cap="flat" cmpd="sng" w="9525">
            <a:solidFill>
              <a:srgbClr val="ED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10652760" y="1819656"/>
            <a:ext cx="658368" cy="658368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10652760" y="1920240"/>
            <a:ext cx="658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0058400" y="2679192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Сравнить ошибку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0030968" y="3246120"/>
            <a:ext cx="190195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||w − U(s)t||²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04088" y="4334256"/>
            <a:ext cx="10744200" cy="1188720"/>
          </a:xfrm>
          <a:prstGeom prst="rect">
            <a:avLst/>
          </a:prstGeom>
          <a:solidFill>
            <a:srgbClr val="F7F7FA"/>
          </a:solidFill>
          <a:ln cap="flat" cmpd="sng" w="9525">
            <a:solidFill>
              <a:srgbClr val="F7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850392" y="4526280"/>
            <a:ext cx="10442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Выбор: (s*, t*) = argminₛ ||w − U(s)·q(U(s)†w)||²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Почему в работе выбраны именно 3 и 4 бита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2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2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6</a:t>
            </a:r>
            <a:r>
              <a:rPr lang="en-US" sz="1020">
                <a:solidFill>
                  <a:srgbClr val="666273"/>
                </a:solidFill>
              </a:rPr>
              <a:t>-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3.4, таблица 1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10/19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31520" y="1042416"/>
            <a:ext cx="10716768" cy="1078992"/>
          </a:xfrm>
          <a:prstGeom prst="rect">
            <a:avLst/>
          </a:prstGeom>
          <a:solidFill>
            <a:srgbClr val="F1EAFE"/>
          </a:solidFill>
          <a:ln cap="flat" cmpd="sng" w="9525">
            <a:solidFill>
              <a:srgbClr val="F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1143000" y="1225296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M = ( K + 4 + 4P ) / C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13232" y="2542032"/>
            <a:ext cx="5248656" cy="2304288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713232" y="2542032"/>
            <a:ext cx="73152" cy="2304288"/>
          </a:xfrm>
          <a:prstGeom prst="rect">
            <a:avLst/>
          </a:prstGeom>
          <a:solidFill>
            <a:srgbClr val="0069FF"/>
          </a:solidFill>
          <a:ln cap="flat" cmpd="sng" w="9525">
            <a:solidFill>
              <a:srgbClr val="006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914400" y="2706624"/>
            <a:ext cx="4864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4-bit SeedLM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914400" y="3145536"/>
            <a:ext cx="4837176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K = 16, C = 8, P = 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M = (16 + 4 + 4·3)/8 = 4 бита на вес.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208776" y="2542032"/>
            <a:ext cx="5248656" cy="2304288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6208776" y="2542032"/>
            <a:ext cx="73152" cy="2304288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6409944" y="2706624"/>
            <a:ext cx="4864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3-bit SeedLM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409944" y="3145536"/>
            <a:ext cx="4837176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K = 16, C = 12, P = 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M = (16 + 4 + 4·4)/12 = 3 бита на вес.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lang="en-US" sz="2250">
                <a:solidFill>
                  <a:srgbClr val="FFFFFF"/>
                </a:solidFill>
              </a:rPr>
              <a:t>Ч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 именно проверяли авторы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3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3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7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11/19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30936" y="1042416"/>
            <a:ext cx="5303520" cy="201168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630936" y="1042416"/>
            <a:ext cx="73152" cy="2011680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832104" y="1207008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Модели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832104" y="1645920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Llama 2: 7B, 13B, 70B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Llama 3: 8B, 70B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Режим: 3 и 4 бита на параметр.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153912" y="1042416"/>
            <a:ext cx="5303520" cy="201168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6153912" y="1042416"/>
            <a:ext cx="73152" cy="2011680"/>
          </a:xfrm>
          <a:prstGeom prst="rect">
            <a:avLst/>
          </a:prstGeom>
          <a:solidFill>
            <a:srgbClr val="0069FF"/>
          </a:solidFill>
          <a:ln cap="flat" cmpd="sng" w="9525">
            <a:solidFill>
              <a:srgbClr val="006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6355080" y="1207008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Качество генерации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6355080" y="1645920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WikiText-2 perplexity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166 окон по 2048 токенов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Меньше perplexity </a:t>
            </a:r>
            <a:r>
              <a:rPr lang="en-US" sz="1800">
                <a:solidFill>
                  <a:srgbClr val="3C3945"/>
                </a:solidFill>
              </a:rPr>
              <a:t>- </a:t>
            </a: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лучше.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30936" y="3355848"/>
            <a:ext cx="5303520" cy="201168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30936" y="3355848"/>
            <a:ext cx="73152" cy="2011680"/>
          </a:xfrm>
          <a:prstGeom prst="rect">
            <a:avLst/>
          </a:prstGeom>
          <a:solidFill>
            <a:srgbClr val="008C83"/>
          </a:solidFill>
          <a:ln cap="flat" cmpd="sng" w="9525">
            <a:solidFill>
              <a:srgbClr val="008C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832104" y="35204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C83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8C83"/>
                </a:solidFill>
                <a:latin typeface="Arial"/>
                <a:ea typeface="Arial"/>
                <a:cs typeface="Arial"/>
                <a:sym typeface="Arial"/>
              </a:rPr>
              <a:t>Zero-shot задачи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832104" y="3959352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ARC-Easy, ARC-Challenge, HellaSwag, WinoGrande, BoolQ; LM Evaluation Harness v0.4.3.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153912" y="3355848"/>
            <a:ext cx="5303520" cy="201168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153912" y="3355848"/>
            <a:ext cx="73152" cy="2011680"/>
          </a:xfrm>
          <a:prstGeom prst="rect">
            <a:avLst/>
          </a:prstGeom>
          <a:solidFill>
            <a:srgbClr val="F93F41"/>
          </a:solidFill>
          <a:ln cap="flat" cmpd="sng" w="9525">
            <a:solidFill>
              <a:srgbClr val="F93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355080" y="35204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3F41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F93F41"/>
                </a:solidFill>
                <a:latin typeface="Arial"/>
                <a:ea typeface="Arial"/>
                <a:cs typeface="Arial"/>
                <a:sym typeface="Arial"/>
              </a:rPr>
              <a:t>Аппаратная часть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355080" y="3959352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Прототип умножения матрицы на вектор в FPGA для оценки ускорения и стоимости логики.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</a:t>
            </a:r>
            <a:r>
              <a:rPr b="1" lang="en-US" sz="2250">
                <a:solidFill>
                  <a:srgbClr val="FFFFFF"/>
                </a:solidFill>
              </a:rPr>
              <a:t>Ц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ифры из статьи </a:t>
            </a:r>
            <a:r>
              <a:rPr b="1" lang="en-US" sz="2250">
                <a:solidFill>
                  <a:schemeClr val="lt1"/>
                </a:solidFill>
              </a:rPr>
              <a:t>Perplexity на WikiText-2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4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4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7</a:t>
            </a:r>
            <a:r>
              <a:rPr lang="en-US" sz="1020">
                <a:solidFill>
                  <a:srgbClr val="666273"/>
                </a:solidFill>
              </a:rPr>
              <a:t>,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таблица 2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12/19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722376" y="1033272"/>
            <a:ext cx="10698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Меньше = лучше. Сжатие увеличивает perplexity, но рост часто умеренный.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22376" y="1783080"/>
            <a:ext cx="10716768" cy="539496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886968" y="1847088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3493008" y="1847088"/>
            <a:ext cx="11064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Биты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974336" y="18470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Llama 2 7B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7260336" y="1847088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Llama 3 8B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9235440" y="1847088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Llama 3 70B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722376" y="2395728"/>
            <a:ext cx="10716768" cy="539496"/>
          </a:xfrm>
          <a:prstGeom prst="rect">
            <a:avLst/>
          </a:prstGeom>
          <a:solidFill>
            <a:srgbClr val="F5F2FA"/>
          </a:solidFill>
          <a:ln cap="flat" cmpd="sng" w="9525">
            <a:solidFill>
              <a:srgbClr val="F5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886968" y="2459736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FP16 baseline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3493008" y="2459736"/>
            <a:ext cx="11064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974336" y="245973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5,5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7260336" y="2459736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6,1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9235440" y="2459736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2,9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22376" y="3008376"/>
            <a:ext cx="10716768" cy="5394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886968" y="3072384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SeedLM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3493008" y="3072384"/>
            <a:ext cx="11064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974336" y="307238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5,7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7260336" y="3072384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7,0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9235440" y="307238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3,8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22376" y="3621024"/>
            <a:ext cx="10716768" cy="539496"/>
          </a:xfrm>
          <a:prstGeom prst="rect">
            <a:avLst/>
          </a:prstGeom>
          <a:solidFill>
            <a:srgbClr val="F5F2FA"/>
          </a:solidFill>
          <a:ln cap="flat" cmpd="sng" w="9525">
            <a:solidFill>
              <a:srgbClr val="F5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886968" y="3685032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AWQ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3493008" y="3685032"/>
            <a:ext cx="11064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974336" y="368503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5,8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260336" y="3685032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7,1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9235440" y="368503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4,7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722376" y="4233672"/>
            <a:ext cx="10716768" cy="5394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886968" y="4297680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SeedLM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3493008" y="4297680"/>
            <a:ext cx="11064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974336" y="42976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6,6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260336" y="4297680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10,1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9235440" y="429768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5,7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722376" y="4846320"/>
            <a:ext cx="10716768" cy="539496"/>
          </a:xfrm>
          <a:prstGeom prst="rect">
            <a:avLst/>
          </a:prstGeom>
          <a:solidFill>
            <a:srgbClr val="F5F2FA"/>
          </a:solidFill>
          <a:ln cap="flat" cmpd="sng" w="9525">
            <a:solidFill>
              <a:srgbClr val="F5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886968" y="4910328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AWQ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3493008" y="4910328"/>
            <a:ext cx="11064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974336" y="49103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15,6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7260336" y="4910328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11,8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9235440" y="4910328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11,6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</a:t>
            </a:r>
            <a:r>
              <a:rPr b="1" lang="en-US" sz="2250">
                <a:solidFill>
                  <a:srgbClr val="FFFFFF"/>
                </a:solidFill>
              </a:rPr>
              <a:t>Н</a:t>
            </a: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асколько упало качество </a:t>
            </a:r>
            <a:r>
              <a:rPr b="1" lang="en-US" sz="2250">
                <a:solidFill>
                  <a:schemeClr val="lt1"/>
                </a:solidFill>
              </a:rPr>
              <a:t>Llama 3 70B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15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5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8</a:t>
            </a:r>
            <a:r>
              <a:rPr lang="en-US" sz="1020">
                <a:solidFill>
                  <a:srgbClr val="666273"/>
                </a:solidFill>
              </a:rPr>
              <a:t>, т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аблица 3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13/19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685800" y="1307592"/>
            <a:ext cx="10808208" cy="731520"/>
          </a:xfrm>
          <a:prstGeom prst="rect">
            <a:avLst/>
          </a:prstGeom>
          <a:solidFill>
            <a:srgbClr val="F8F7FB"/>
          </a:solidFill>
          <a:ln cap="flat" cmpd="sng" w="9525">
            <a:solidFill>
              <a:srgbClr val="F8F7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950976" y="1472184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FP16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3136392" y="150876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16 бит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577840" y="1417320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79,51%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9089136" y="1490472"/>
            <a:ext cx="15727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500">
                <a:solidFill>
                  <a:schemeClr val="dk1"/>
                </a:solidFill>
              </a:rPr>
              <a:t>x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685800" y="2221992"/>
            <a:ext cx="10808208" cy="731520"/>
          </a:xfrm>
          <a:prstGeom prst="rect">
            <a:avLst/>
          </a:prstGeom>
          <a:solidFill>
            <a:srgbClr val="E9F1FF"/>
          </a:solidFill>
          <a:ln cap="flat" cmpd="sng" w="9525">
            <a:solidFill>
              <a:srgbClr val="E9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950976" y="2386584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SeedLM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3136392" y="242316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4 бита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577840" y="2331720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78,06%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9089136" y="2404872"/>
            <a:ext cx="15727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1500">
                <a:solidFill>
                  <a:schemeClr val="dk1"/>
                </a:solidFill>
              </a:rPr>
              <a:t>x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685800" y="3136392"/>
            <a:ext cx="10808208" cy="731520"/>
          </a:xfrm>
          <a:prstGeom prst="rect">
            <a:avLst/>
          </a:prstGeom>
          <a:solidFill>
            <a:srgbClr val="F8F7FB"/>
          </a:solidFill>
          <a:ln cap="flat" cmpd="sng" w="9525">
            <a:solidFill>
              <a:srgbClr val="F8F7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950976" y="3300984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SeedLM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3136392" y="333756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3 бита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577840" y="3246120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74,68%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9089136" y="3319272"/>
            <a:ext cx="15727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5,33</a:t>
            </a:r>
            <a:r>
              <a:rPr b="1" lang="en-US" sz="1500">
                <a:solidFill>
                  <a:schemeClr val="dk1"/>
                </a:solidFill>
              </a:rPr>
              <a:t>x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685800" y="4050792"/>
            <a:ext cx="10808208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950976" y="4215384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AWQ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3136392" y="425196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31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4131A"/>
                </a:solidFill>
                <a:latin typeface="Arial"/>
                <a:ea typeface="Arial"/>
                <a:cs typeface="Arial"/>
                <a:sym typeface="Arial"/>
              </a:rPr>
              <a:t>4 бита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5577840" y="4160520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72,34%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9089136" y="4233672"/>
            <a:ext cx="15727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~=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1500">
                <a:solidFill>
                  <a:schemeClr val="dk1"/>
                </a:solidFill>
              </a:rPr>
              <a:t>x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822960" y="5257800"/>
            <a:ext cx="10396728" cy="621792"/>
          </a:xfrm>
          <a:prstGeom prst="rect">
            <a:avLst/>
          </a:prstGeom>
          <a:solidFill>
            <a:srgbClr val="F1E8FF"/>
          </a:solidFill>
          <a:ln cap="flat" cmpd="sng" w="9525">
            <a:solidFill>
              <a:srgbClr val="F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1014984" y="5394960"/>
            <a:ext cx="100401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70"/>
              <a:buFont typeface="Arial"/>
              <a:buNone/>
            </a:pPr>
            <a:r>
              <a:rPr b="1" i="0" lang="en-US" sz="187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Вывод: 4-bit SeedLM теряет 1,45 п.п. средней точности по 5 zero-shot задачам.</a:t>
            </a:r>
            <a:endParaRPr b="0" i="0" sz="1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Визуальное сравнение из оригинальной статьи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.1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16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6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2</a:t>
            </a:r>
            <a:r>
              <a:rPr lang="en-US" sz="1020">
                <a:solidFill>
                  <a:srgbClr val="666273"/>
                </a:solidFill>
              </a:rPr>
              <a:t>,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рисунок 1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14/19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640080" y="1069848"/>
            <a:ext cx="10890504" cy="4187952"/>
          </a:xfrm>
          <a:prstGeom prst="rect">
            <a:avLst/>
          </a:prstGeom>
          <a:solidFill>
            <a:srgbClr val="F8F8FA"/>
          </a:solidFill>
          <a:ln cap="flat" cmpd="sng" w="9525">
            <a:solidFill>
              <a:srgbClr val="F8F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tmo_work/fig1_retained_accuracy.png" id="382" name="Google Shape;3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8" y="1170432"/>
            <a:ext cx="9701784" cy="394106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6"/>
          <p:cNvSpPr/>
          <p:nvPr/>
        </p:nvSpPr>
        <p:spPr>
          <a:xfrm>
            <a:off x="896112" y="5468112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20"/>
              <a:buFont typeface="Arial"/>
              <a:buNone/>
            </a:pPr>
            <a:r>
              <a:rPr b="0" i="0" lang="en-US" sz="182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Верхняя панель: 4 бита; нижняя: 3 бита. Показана сохраненная точность относительно FP16.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4.2. Аппаратная реализация FPGA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17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17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9 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4.2, рисунок 4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15/19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658368" y="1014984"/>
            <a:ext cx="7315200" cy="5029200"/>
          </a:xfrm>
          <a:prstGeom prst="rect">
            <a:avLst/>
          </a:prstGeom>
          <a:solidFill>
            <a:srgbClr val="F8F8FB"/>
          </a:solidFill>
          <a:ln cap="flat" cmpd="sng" w="9525">
            <a:solidFill>
              <a:srgbClr val="F8F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tmo_work/fig4_fpga.png" id="396" name="Google Shape;3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1709928"/>
            <a:ext cx="6528816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7"/>
          <p:cNvSpPr/>
          <p:nvPr/>
        </p:nvSpPr>
        <p:spPr>
          <a:xfrm>
            <a:off x="8257032" y="1097280"/>
            <a:ext cx="3337560" cy="196596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8257032" y="1097280"/>
            <a:ext cx="73152" cy="1965960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8458200" y="1261872"/>
            <a:ext cx="2953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Платформа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8458200" y="1700784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AMD Virtex-7 FPGA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XC7V585T-3.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8257032" y="3273552"/>
            <a:ext cx="3337560" cy="2322576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8257032" y="3273552"/>
            <a:ext cx="73152" cy="2322576"/>
          </a:xfrm>
          <a:prstGeom prst="rect">
            <a:avLst/>
          </a:prstGeom>
          <a:solidFill>
            <a:srgbClr val="0069FF"/>
          </a:solidFill>
          <a:ln cap="flat" cmpd="sng" w="9525">
            <a:solidFill>
              <a:srgbClr val="006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8458200" y="3438144"/>
            <a:ext cx="2953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Идея ускорения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8458200" y="3877056"/>
            <a:ext cx="292608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Шина DDR: 64 байта за такт.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FP16: 32 веса/такт.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SeedLM 4-bit: 128 весов/такт.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4.2. Измеренное ускорение FPGA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18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8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10</a:t>
            </a:r>
            <a:r>
              <a:rPr lang="en-US" sz="1020">
                <a:solidFill>
                  <a:srgbClr val="666273"/>
                </a:solidFill>
              </a:rPr>
              <a:t>,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таблица 5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16/19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701095" y="1954113"/>
            <a:ext cx="10789800" cy="722400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911407" y="2072985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0"/>
              <a:buFont typeface="Arial"/>
              <a:buNone/>
            </a:pPr>
            <a:r>
              <a:rPr b="1" i="0" lang="en-US" sz="1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Матрица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3928927" y="2072985"/>
            <a:ext cx="2432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0"/>
              <a:buFont typeface="Arial"/>
              <a:buNone/>
            </a:pPr>
            <a:r>
              <a:rPr b="1" i="0" lang="en-US" sz="1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FP16 (такты)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6644695" y="2072985"/>
            <a:ext cx="230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0"/>
              <a:buFont typeface="Arial"/>
              <a:buNone/>
            </a:pPr>
            <a:r>
              <a:rPr b="1" i="0" lang="en-US" sz="1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SeedLM (такты)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9177583" y="2072985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0"/>
              <a:buFont typeface="Arial"/>
              <a:buNone/>
            </a:pPr>
            <a:r>
              <a:rPr b="1" i="0" lang="en-US" sz="1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Ускорение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701095" y="2877657"/>
            <a:ext cx="10789800" cy="722400"/>
          </a:xfrm>
          <a:prstGeom prst="rect">
            <a:avLst/>
          </a:prstGeom>
          <a:solidFill>
            <a:srgbClr val="F9F7FD"/>
          </a:solidFill>
          <a:ln cap="flat" cmpd="sng" w="9525">
            <a:solidFill>
              <a:srgbClr val="F9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911407" y="2996529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512 </a:t>
            </a:r>
            <a:r>
              <a:rPr lang="en-US" sz="1500">
                <a:solidFill>
                  <a:srgbClr val="3C3945"/>
                </a:solidFill>
              </a:rPr>
              <a:t>x</a:t>
            </a: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512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3928927" y="2996529"/>
            <a:ext cx="2432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8 593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644695" y="2996529"/>
            <a:ext cx="230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2 341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9177583" y="2996529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3,67</a:t>
            </a:r>
            <a:r>
              <a:rPr b="1" lang="en-US" sz="1500">
                <a:solidFill>
                  <a:srgbClr val="7E10FF"/>
                </a:solidFill>
              </a:rPr>
              <a:t>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701095" y="3801201"/>
            <a:ext cx="10789800" cy="72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911407" y="3920073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1024 </a:t>
            </a:r>
            <a:r>
              <a:rPr lang="en-US" sz="1500">
                <a:solidFill>
                  <a:srgbClr val="3C3945"/>
                </a:solidFill>
              </a:rPr>
              <a:t>x</a:t>
            </a: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1024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3928927" y="3920073"/>
            <a:ext cx="2432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34 201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6644695" y="3920073"/>
            <a:ext cx="230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8 723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9177583" y="3920073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3,92</a:t>
            </a:r>
            <a:r>
              <a:rPr b="1" lang="en-US" sz="1500">
                <a:solidFill>
                  <a:srgbClr val="7E10FF"/>
                </a:solidFill>
              </a:rPr>
              <a:t>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701095" y="4724745"/>
            <a:ext cx="10789800" cy="722400"/>
          </a:xfrm>
          <a:prstGeom prst="rect">
            <a:avLst/>
          </a:prstGeom>
          <a:solidFill>
            <a:srgbClr val="F9F7FD"/>
          </a:solidFill>
          <a:ln cap="flat" cmpd="sng" w="9525">
            <a:solidFill>
              <a:srgbClr val="F9F7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911407" y="4843617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2048 </a:t>
            </a:r>
            <a:r>
              <a:rPr lang="en-US" sz="1500">
                <a:solidFill>
                  <a:srgbClr val="3C3945"/>
                </a:solidFill>
              </a:rPr>
              <a:t>x</a:t>
            </a: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2048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3928927" y="4843617"/>
            <a:ext cx="2432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136 559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6644695" y="4843617"/>
            <a:ext cx="230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34 331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9177583" y="4843617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3,98</a:t>
            </a:r>
            <a:r>
              <a:rPr b="1" lang="en-US" sz="1500">
                <a:solidFill>
                  <a:srgbClr val="7E10FF"/>
                </a:solidFill>
              </a:rPr>
              <a:t>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7E10FF"/>
          </a:solidFill>
          <a:ln cap="flat" cmpd="sng" w="9525">
            <a:solidFill>
              <a:srgbClr val="7E1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502920" y="128016"/>
            <a:ext cx="10698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Итоги авторов статьи и ограничения</a:t>
            </a:r>
            <a:endParaRPr b="0" i="0" sz="2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10698480" y="256032"/>
            <a:ext cx="978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DA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EBDA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19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DAD6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19"/>
          <p:cNvSpPr/>
          <p:nvPr/>
        </p:nvSpPr>
        <p:spPr>
          <a:xfrm>
            <a:off x="502920" y="657453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27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Источник: статья, с. 10 </a:t>
            </a:r>
            <a:r>
              <a:rPr lang="en-US" sz="1020">
                <a:solidFill>
                  <a:srgbClr val="666273"/>
                </a:solidFill>
              </a:rPr>
              <a:t>, параграф </a:t>
            </a:r>
            <a:r>
              <a:rPr b="0" i="0" lang="en-US" sz="1020" u="none" cap="none" strike="noStrike">
                <a:solidFill>
                  <a:srgbClr val="66627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11109960" y="656539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1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E10FF"/>
                </a:solidFill>
                <a:latin typeface="Arial"/>
                <a:ea typeface="Arial"/>
                <a:cs typeface="Arial"/>
                <a:sym typeface="Arial"/>
              </a:rPr>
              <a:t>17/19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676656" y="1078992"/>
            <a:ext cx="5212080" cy="1901952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676656" y="1078992"/>
            <a:ext cx="73152" cy="1901952"/>
          </a:xfrm>
          <a:prstGeom prst="rect">
            <a:avLst/>
          </a:prstGeom>
          <a:solidFill>
            <a:srgbClr val="008C83"/>
          </a:solidFill>
          <a:ln cap="flat" cmpd="sng" w="9525">
            <a:solidFill>
              <a:srgbClr val="008C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877824" y="1243584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C83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8C83"/>
                </a:solidFill>
                <a:latin typeface="Arial"/>
                <a:ea typeface="Arial"/>
                <a:cs typeface="Arial"/>
                <a:sym typeface="Arial"/>
              </a:rPr>
              <a:t>Что удалось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877824" y="1682496"/>
            <a:ext cx="4800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rgbClr val="3C3945"/>
                </a:solidFill>
              </a:rPr>
              <a:t>-</a:t>
            </a: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4 бита на вес без calibration data и дополнительного обучения; высокая retained accuracy в тестах.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6260644" y="2478017"/>
            <a:ext cx="5212200" cy="1902000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6260644" y="2478017"/>
            <a:ext cx="73200" cy="1902000"/>
          </a:xfrm>
          <a:prstGeom prst="rect">
            <a:avLst/>
          </a:prstGeom>
          <a:solidFill>
            <a:srgbClr val="0069FF"/>
          </a:solidFill>
          <a:ln cap="flat" cmpd="sng" w="9525">
            <a:solidFill>
              <a:srgbClr val="006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6461812" y="2642609"/>
            <a:ext cx="4827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FF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0069FF"/>
                </a:solidFill>
                <a:latin typeface="Arial"/>
                <a:ea typeface="Arial"/>
                <a:cs typeface="Arial"/>
                <a:sym typeface="Arial"/>
              </a:rPr>
              <a:t>В чем практическая ценность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6461812" y="3081521"/>
            <a:ext cx="48006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Уменьшение доступа к DRAM; возможность ускорить memory-bound инференс на </a:t>
            </a:r>
            <a:r>
              <a:rPr lang="en-US" sz="1800">
                <a:solidFill>
                  <a:srgbClr val="3C3945"/>
                </a:solidFill>
              </a:rPr>
              <a:t>любом</a:t>
            </a: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железе.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676656" y="3182112"/>
            <a:ext cx="5212080" cy="1975104"/>
          </a:xfrm>
          <a:prstGeom prst="rect">
            <a:avLst/>
          </a:prstGeom>
          <a:solidFill>
            <a:srgbClr val="F9F8FC"/>
          </a:solidFill>
          <a:ln cap="flat" cmpd="sng" w="9525">
            <a:solidFill>
              <a:srgbClr val="F9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676656" y="3182112"/>
            <a:ext cx="73152" cy="1975104"/>
          </a:xfrm>
          <a:prstGeom prst="rect">
            <a:avLst/>
          </a:prstGeom>
          <a:solidFill>
            <a:srgbClr val="F93F41"/>
          </a:solidFill>
          <a:ln cap="flat" cmpd="sng" w="9525">
            <a:solidFill>
              <a:srgbClr val="F93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877824" y="3346704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3F41"/>
              </a:buClr>
              <a:buSzPts val="1820"/>
              <a:buFont typeface="Arial"/>
              <a:buNone/>
            </a:pPr>
            <a:r>
              <a:rPr b="1" i="0" lang="en-US" sz="1820" u="none" cap="none" strike="noStrike">
                <a:solidFill>
                  <a:srgbClr val="F93F41"/>
                </a:solidFill>
                <a:latin typeface="Arial"/>
                <a:ea typeface="Arial"/>
                <a:cs typeface="Arial"/>
                <a:sym typeface="Arial"/>
              </a:rPr>
              <a:t>Что нельзя заключить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877824" y="3785616"/>
            <a:ext cx="48006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94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Почти 4</a:t>
            </a:r>
            <a:r>
              <a:rPr lang="en-US" sz="1800">
                <a:solidFill>
                  <a:srgbClr val="3C3945"/>
                </a:solidFill>
              </a:rPr>
              <a:t>x</a:t>
            </a:r>
            <a:r>
              <a:rPr b="0" i="0" lang="en-US" sz="1800" u="none" cap="none" strike="noStrike">
                <a:solidFill>
                  <a:srgbClr val="3C3945"/>
                </a:solidFill>
                <a:latin typeface="Arial"/>
                <a:ea typeface="Arial"/>
                <a:cs typeface="Arial"/>
                <a:sym typeface="Arial"/>
              </a:rPr>
              <a:t> на FPGA не означает гарантированное ускорение LLM.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itmo_work/itmo_neon_inspired.jpg" id="464" name="Google Shape;4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0"/>
          <p:cNvSpPr/>
          <p:nvPr/>
        </p:nvSpPr>
        <p:spPr>
          <a:xfrm>
            <a:off x="5330952" y="914400"/>
            <a:ext cx="1499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pc="-20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ITMO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5358384" y="1444752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pc="240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957001" y="3421276"/>
            <a:ext cx="10278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b="0" i="0" sz="4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2971800" y="5586984"/>
            <a:ext cx="6199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40"/>
              <a:buFont typeface="Arial"/>
              <a:buNone/>
            </a:pPr>
            <a:r>
              <a:t/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